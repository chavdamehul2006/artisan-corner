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658" y="72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HUL CHAVDA" userId="4844a6d6ff02bc63" providerId="LiveId" clId="{60DC972E-998D-4A6D-8C58-DBA1BCDF48BB}"/>
    <pc:docChg chg="undo custSel modSld">
      <pc:chgData name="MEHUL CHAVDA" userId="4844a6d6ff02bc63" providerId="LiveId" clId="{60DC972E-998D-4A6D-8C58-DBA1BCDF48BB}" dt="2026-08-26T11:51:49.984" v="3" actId="20577"/>
      <pc:docMkLst>
        <pc:docMk/>
      </pc:docMkLst>
      <pc:sldChg chg="modSp mod">
        <pc:chgData name="MEHUL CHAVDA" userId="4844a6d6ff02bc63" providerId="LiveId" clId="{60DC972E-998D-4A6D-8C58-DBA1BCDF48BB}" dt="2026-08-26T11:51:49.984" v="3" actId="20577"/>
        <pc:sldMkLst>
          <pc:docMk/>
          <pc:sldMk cId="0" sldId="259"/>
        </pc:sldMkLst>
        <pc:spChg chg="mod">
          <ac:chgData name="MEHUL CHAVDA" userId="4844a6d6ff02bc63" providerId="LiveId" clId="{60DC972E-998D-4A6D-8C58-DBA1BCDF48BB}" dt="2026-08-26T11:51:49.984" v="3" actId="20577"/>
          <ac:spMkLst>
            <pc:docMk/>
            <pc:sldMk cId="0" sldId="259"/>
            <ac:spMk id="17" creationId="{00000000-0000-0000-0000-000000000000}"/>
          </ac:spMkLst>
        </pc:spChg>
      </pc:sldChg>
      <pc:sldChg chg="modSp mod">
        <pc:chgData name="MEHUL CHAVDA" userId="4844a6d6ff02bc63" providerId="LiveId" clId="{60DC972E-998D-4A6D-8C58-DBA1BCDF48BB}" dt="2026-08-26T11:51:19.759" v="1" actId="20577"/>
        <pc:sldMkLst>
          <pc:docMk/>
          <pc:sldMk cId="0" sldId="266"/>
        </pc:sldMkLst>
        <pc:spChg chg="mod">
          <ac:chgData name="MEHUL CHAVDA" userId="4844a6d6ff02bc63" providerId="LiveId" clId="{60DC972E-998D-4A6D-8C58-DBA1BCDF48BB}" dt="2026-08-26T11:51:19.759" v="1" actId="20577"/>
          <ac:spMkLst>
            <pc:docMk/>
            <pc:sldMk cId="0" sldId="266"/>
            <ac:spMk id="1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01E18"/>
          </a:solidFill>
          <a:ln>
            <a:solidFill>
              <a:srgbClr val="301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522D23"/>
          </a:solidFill>
          <a:ln>
            <a:solidFill>
              <a:srgbClr val="52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058400" y="3657600"/>
            <a:ext cx="4114800" cy="4114800"/>
          </a:xfrm>
          <a:prstGeom prst="ellipse">
            <a:avLst/>
          </a:prstGeom>
          <a:solidFill>
            <a:srgbClr val="404C3E"/>
          </a:solidFill>
          <a:ln>
            <a:solidFill>
              <a:srgbClr val="404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r>
              <a:t>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058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Georgia"/>
              </a:defRPr>
            </a:pPr>
            <a:r>
              <a:t>ARTISAN'S CORNER</a:t>
            </a:r>
          </a:p>
          <a:p>
            <a:pPr>
              <a:spcBef>
                <a:spcPts val="800"/>
              </a:spcBef>
              <a:defRPr sz="1900" i="1">
                <a:solidFill>
                  <a:srgbClr val="EEE4DA"/>
                </a:solidFill>
                <a:latin typeface="Georgia"/>
              </a:defRPr>
            </a:pPr>
            <a:r>
              <a:t>A Multi-Vendor Marketplace for Handcrafted Goods</a:t>
            </a:r>
          </a:p>
          <a:p>
            <a:pPr>
              <a:spcBef>
                <a:spcPts val="1600"/>
              </a:spcBef>
              <a:defRPr sz="1250">
                <a:solidFill>
                  <a:srgbClr val="CDC3B9"/>
                </a:solidFill>
                <a:latin typeface="Calibri"/>
              </a:defRPr>
            </a:pPr>
            <a:r>
              <a:t>Built on the MERN stack — connecting independent potters, fine jewelers, woodcrafters, and weavers directly with conscious buyers who value heirloom slow-made craft.</a:t>
            </a:r>
          </a:p>
          <a:p>
            <a:pPr>
              <a:spcBef>
                <a:spcPts val="1000"/>
              </a:spcBef>
              <a:defRPr sz="1200" b="1">
                <a:solidFill>
                  <a:srgbClr val="F5A582"/>
                </a:solidFill>
                <a:latin typeface="Calibri"/>
              </a:defRPr>
            </a:pPr>
            <a:r>
              <a:t>🌐 Live Deployment: https://artisan-corner-ten.vercel.app/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029200"/>
            <a:ext cx="1965960" cy="438912"/>
          </a:xfrm>
          <a:prstGeom prst="roundRect">
            <a:avLst/>
          </a:prstGeom>
          <a:solidFill>
            <a:srgbClr val="402820"/>
          </a:solidFill>
          <a:ln w="15240">
            <a:solidFill>
              <a:srgbClr val="C24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0E6DC"/>
                </a:solidFill>
                <a:latin typeface="Calibri"/>
              </a:defRPr>
            </a:pPr>
            <a:r>
              <a:t>React 18 + Vite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79" y="5029200"/>
            <a:ext cx="1965960" cy="438912"/>
          </a:xfrm>
          <a:prstGeom prst="roundRect">
            <a:avLst/>
          </a:prstGeom>
          <a:solidFill>
            <a:srgbClr val="402820"/>
          </a:solidFill>
          <a:ln w="15240">
            <a:solidFill>
              <a:srgbClr val="C24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0E6DC"/>
                </a:solidFill>
                <a:latin typeface="Calibri"/>
              </a:defRPr>
            </a:pPr>
            <a:r>
              <a:t>Node.js / Express 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5029200"/>
            <a:ext cx="1965960" cy="438912"/>
          </a:xfrm>
          <a:prstGeom prst="roundRect">
            <a:avLst/>
          </a:prstGeom>
          <a:solidFill>
            <a:srgbClr val="402820"/>
          </a:solidFill>
          <a:ln w="15240">
            <a:solidFill>
              <a:srgbClr val="C24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0E6DC"/>
                </a:solidFill>
                <a:latin typeface="Calibri"/>
              </a:defRPr>
            </a:pPr>
            <a:r>
              <a:t>MongoDB Mongoose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5029200"/>
            <a:ext cx="1965960" cy="438912"/>
          </a:xfrm>
          <a:prstGeom prst="roundRect">
            <a:avLst/>
          </a:prstGeom>
          <a:solidFill>
            <a:srgbClr val="402820"/>
          </a:solidFill>
          <a:ln w="15240">
            <a:solidFill>
              <a:srgbClr val="C24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0E6DC"/>
                </a:solidFill>
                <a:latin typeface="Calibri"/>
              </a:defRPr>
            </a:pPr>
            <a:r>
              <a:t>Stripe SDK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35440" y="5029200"/>
            <a:ext cx="1965960" cy="438912"/>
          </a:xfrm>
          <a:prstGeom prst="roundRect">
            <a:avLst/>
          </a:prstGeom>
          <a:solidFill>
            <a:srgbClr val="402820"/>
          </a:solidFill>
          <a:ln w="15240">
            <a:solidFill>
              <a:srgbClr val="C24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0E6DC"/>
                </a:solidFill>
                <a:latin typeface="Calibri"/>
              </a:defRPr>
            </a:pPr>
            <a:r>
              <a:t>Cloudinary CDN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0807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DC3B9"/>
                </a:solidFill>
                <a:latin typeface="Calibri"/>
              </a:defRPr>
            </a:pPr>
            <a:r>
              <a:t>Official Platform Overview · 2026 Edition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>
            <a:solidFill>
              <a:srgbClr val="F8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24B2D"/>
          </a:solidFill>
          <a:ln>
            <a:solidFill>
              <a:srgbClr val="C24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0" y="62179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E645C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179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E645C"/>
                </a:solidFill>
                <a:latin typeface="Calibri"/>
              </a:defRPr>
            </a:pPr>
            <a:r>
              <a:t>ARTISAN'S CORNER · https://artisan-corner-ten.vercel.app/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C24B2D"/>
                </a:solidFill>
                <a:latin typeface="Calibri"/>
              </a:defRPr>
            </a:pPr>
            <a:r>
              <a:t>T H E   C O N C E P 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0467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C1815"/>
                </a:solidFill>
                <a:latin typeface="Georgia"/>
              </a:defRPr>
            </a:pPr>
            <a:r>
              <a:t>Where local craft meets a modern digital storefront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50876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6E645C"/>
                </a:solidFill>
                <a:latin typeface="Calibri"/>
              </a:defRPr>
            </a:pPr>
            <a:r>
              <a:t>Independent makers rarely have the tools of a large retailer. Artisan's Corner gives every artisan their own shop, catalog, and isolated order pipeline — while buyers get one unified, trusted marketplace for verified handmade goods.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697480"/>
            <a:ext cx="502920" cy="502920"/>
          </a:xfrm>
          <a:prstGeom prst="ellipse">
            <a:avLst/>
          </a:prstGeom>
          <a:solidFill>
            <a:srgbClr val="F5EBE6"/>
          </a:solidFill>
          <a:ln>
            <a:solidFill>
              <a:srgbClr val="E6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/>
            </a:pPr>
            <a:r>
              <a:t>🛍️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6517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C1815"/>
                </a:solidFill>
                <a:latin typeface="Georgia"/>
              </a:defRPr>
            </a:pPr>
            <a:r>
              <a:t>Buyers</a:t>
            </a:r>
          </a:p>
          <a:p>
            <a:pPr>
              <a:defRPr sz="1000">
                <a:solidFill>
                  <a:srgbClr val="6E645C"/>
                </a:solidFill>
                <a:latin typeface="Calibri"/>
              </a:defRPr>
            </a:pPr>
            <a:r>
              <a:t>Discover curated crafts, manage persistent carts &amp; wishlists, checkout via Stripe, and track deliveries.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840480"/>
            <a:ext cx="502920" cy="502920"/>
          </a:xfrm>
          <a:prstGeom prst="ellipse">
            <a:avLst/>
          </a:prstGeom>
          <a:solidFill>
            <a:srgbClr val="F5EBE6"/>
          </a:solidFill>
          <a:ln>
            <a:solidFill>
              <a:srgbClr val="E6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/>
            </a:pPr>
            <a:r>
              <a:t>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7947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C1815"/>
                </a:solidFill>
                <a:latin typeface="Georgia"/>
              </a:defRPr>
            </a:pPr>
            <a:r>
              <a:t>Vendors</a:t>
            </a:r>
          </a:p>
          <a:p>
            <a:pPr>
              <a:defRPr sz="1000">
                <a:solidFill>
                  <a:srgbClr val="6E645C"/>
                </a:solidFill>
                <a:latin typeface="Calibri"/>
              </a:defRPr>
            </a:pPr>
            <a:r>
              <a:t>Operate branded shops (e.g. Terra &amp; Kiln, Atelier Aurelia), manage SKU inventory, and view live net revenue.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983480"/>
            <a:ext cx="502920" cy="502920"/>
          </a:xfrm>
          <a:prstGeom prst="ellipse">
            <a:avLst/>
          </a:prstGeom>
          <a:solidFill>
            <a:srgbClr val="F5EBE6"/>
          </a:solidFill>
          <a:ln>
            <a:solidFill>
              <a:srgbClr val="E6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/>
            </a:pPr>
            <a:r>
              <a:t>🛡️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49377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C1815"/>
                </a:solidFill>
                <a:latin typeface="Georgia"/>
              </a:defRPr>
            </a:pPr>
            <a:r>
              <a:t>Admins</a:t>
            </a:r>
          </a:p>
          <a:p>
            <a:pPr>
              <a:defRPr sz="1000">
                <a:solidFill>
                  <a:srgbClr val="6E645C"/>
                </a:solidFill>
                <a:latin typeface="Calibri"/>
              </a:defRPr>
            </a:pPr>
            <a:r>
              <a:t>Review artisan application queues, adjust global commission (5%), set tax/shipping rules, and monitor GMV.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1508760"/>
            <a:ext cx="4846320" cy="4480560"/>
          </a:xfrm>
          <a:prstGeom prst="roundRect">
            <a:avLst/>
          </a:prstGeom>
          <a:solidFill>
            <a:srgbClr val="E6EBDE"/>
          </a:solidFill>
          <a:ln>
            <a:solidFill>
              <a:srgbClr val="D4D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66560" y="1691640"/>
            <a:ext cx="4297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E645C"/>
                </a:solidFill>
                <a:latin typeface="Calibri"/>
              </a:defRPr>
            </a:pPr>
            <a:r>
              <a:t>O N E   P L A T F O R M ,   T H R E E   R O L E 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66560" y="2103120"/>
            <a:ext cx="42976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C24B2D"/>
                </a:solidFill>
                <a:latin typeface="Georgia"/>
              </a:defRPr>
            </a:pPr>
            <a:r>
              <a:t>1. Discover &amp; Cart</a:t>
            </a:r>
          </a:p>
          <a:p>
            <a:pPr>
              <a:defRPr sz="950">
                <a:solidFill>
                  <a:srgbClr val="6E645C"/>
                </a:solidFill>
                <a:latin typeface="Calibri"/>
              </a:defRPr>
            </a:pPr>
            <a:r>
              <a:t>Buyer discovers handmade items across multiple makers in 1 cart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66560" y="3063239"/>
            <a:ext cx="42976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C24B2D"/>
                </a:solidFill>
                <a:latin typeface="Georgia"/>
              </a:defRPr>
            </a:pPr>
            <a:r>
              <a:t>2. Split Fulfillment</a:t>
            </a:r>
          </a:p>
          <a:p>
            <a:pPr>
              <a:defRPr sz="950">
                <a:solidFill>
                  <a:srgbClr val="6E645C"/>
                </a:solidFill>
                <a:latin typeface="Calibri"/>
              </a:defRPr>
            </a:pPr>
            <a:r>
              <a:t>Database automatically splits order line items to each maker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6560" y="4023360"/>
            <a:ext cx="42976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C24B2D"/>
                </a:solidFill>
                <a:latin typeface="Georgia"/>
              </a:defRPr>
            </a:pPr>
            <a:r>
              <a:t>3. Verified Feedback</a:t>
            </a:r>
          </a:p>
          <a:p>
            <a:pPr>
              <a:defRPr sz="950">
                <a:solidFill>
                  <a:srgbClr val="6E645C"/>
                </a:solidFill>
                <a:latin typeface="Calibri"/>
              </a:defRPr>
            </a:pPr>
            <a:r>
              <a:t>Delivery confirmation unlocks authenticated 1-5 star reviews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66560" y="4983480"/>
            <a:ext cx="42976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C24B2D"/>
                </a:solidFill>
                <a:latin typeface="Georgia"/>
              </a:defRPr>
            </a:pPr>
            <a:r>
              <a:t>4. Shared Prosperity</a:t>
            </a:r>
          </a:p>
          <a:p>
            <a:pPr>
              <a:defRPr sz="950">
                <a:solidFill>
                  <a:srgbClr val="6E645C"/>
                </a:solidFill>
                <a:latin typeface="Calibri"/>
              </a:defRPr>
            </a:pPr>
            <a:r>
              <a:t>Artisans receive 95% net payouts while platform scales sustainably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>
            <a:solidFill>
              <a:srgbClr val="F8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24B2D"/>
          </a:solidFill>
          <a:ln>
            <a:solidFill>
              <a:srgbClr val="C24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0" y="62179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E645C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179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E645C"/>
                </a:solidFill>
                <a:latin typeface="Calibri"/>
              </a:defRPr>
            </a:pPr>
            <a:r>
              <a:t>ARTISAN'S CORNER · https://artisan-corner-ten.vercel.app/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C24B2D"/>
                </a:solidFill>
                <a:latin typeface="Calibri"/>
              </a:defRPr>
            </a:pPr>
            <a:r>
              <a:t>B U Y E R   F L O 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0467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C1815"/>
                </a:solidFill>
                <a:latin typeface="Georgia"/>
              </a:defRPr>
            </a:pPr>
            <a:r>
              <a:t>A complete shopping journey engineered for craft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45920"/>
            <a:ext cx="3383280" cy="2011680"/>
          </a:xfrm>
          <a:prstGeom prst="roundRect">
            <a:avLst/>
          </a:prstGeom>
          <a:solidFill>
            <a:srgbClr val="E6EBDE"/>
          </a:solidFill>
          <a:ln>
            <a:solidFill>
              <a:srgbClr val="D4D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51560" y="1874519"/>
            <a:ext cx="502920" cy="50292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/>
            </a:pPr>
            <a:r>
              <a:t>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468880"/>
            <a:ext cx="2926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C1815"/>
                </a:solidFill>
                <a:latin typeface="Georgia"/>
              </a:defRPr>
            </a:pPr>
            <a:r>
              <a:t>Secure Auth</a:t>
            </a:r>
          </a:p>
          <a:p>
            <a:pPr>
              <a:spcBef>
                <a:spcPts val="400"/>
              </a:spcBef>
              <a:defRPr sz="1000">
                <a:solidFill>
                  <a:srgbClr val="6E645C"/>
                </a:solidFill>
                <a:latin typeface="Calibri"/>
              </a:defRPr>
            </a:pPr>
            <a:r>
              <a:t>JWT access tokens in HttpOnly cookies keep buyer sessions safe from XSS.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45920"/>
            <a:ext cx="3383280" cy="2011680"/>
          </a:xfrm>
          <a:prstGeom prst="roundRect">
            <a:avLst/>
          </a:prstGeom>
          <a:solidFill>
            <a:srgbClr val="E6EBDE"/>
          </a:solidFill>
          <a:ln>
            <a:solidFill>
              <a:srgbClr val="D4D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617720" y="1874519"/>
            <a:ext cx="502920" cy="50292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/>
            </a:pPr>
            <a:r>
              <a:t>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468880"/>
            <a:ext cx="2926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C1815"/>
                </a:solidFill>
                <a:latin typeface="Georgia"/>
              </a:defRPr>
            </a:pPr>
            <a:r>
              <a:t>Persistent Cart</a:t>
            </a:r>
          </a:p>
          <a:p>
            <a:pPr>
              <a:spcBef>
                <a:spcPts val="400"/>
              </a:spcBef>
              <a:defRPr sz="1000">
                <a:solidFill>
                  <a:srgbClr val="6E645C"/>
                </a:solidFill>
                <a:latin typeface="Calibri"/>
              </a:defRPr>
            </a:pPr>
            <a:r>
              <a:t>Synced continuously across browser refreshes via Redux + LocalStorage + DB.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645920"/>
            <a:ext cx="3383280" cy="2011680"/>
          </a:xfrm>
          <a:prstGeom prst="roundRect">
            <a:avLst/>
          </a:prstGeom>
          <a:solidFill>
            <a:srgbClr val="E6EBDE"/>
          </a:solidFill>
          <a:ln>
            <a:solidFill>
              <a:srgbClr val="D4D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183879" y="1874519"/>
            <a:ext cx="502920" cy="50292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/>
            </a:pPr>
            <a:r>
              <a:t>❤️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2468880"/>
            <a:ext cx="2926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C1815"/>
                </a:solidFill>
                <a:latin typeface="Georgia"/>
              </a:defRPr>
            </a:pPr>
            <a:r>
              <a:t>Cloud Wishlist</a:t>
            </a:r>
          </a:p>
          <a:p>
            <a:pPr>
              <a:spcBef>
                <a:spcPts val="400"/>
              </a:spcBef>
              <a:defRPr sz="1000">
                <a:solidFill>
                  <a:srgbClr val="6E645C"/>
                </a:solidFill>
                <a:latin typeface="Calibri"/>
              </a:defRPr>
            </a:pPr>
            <a:r>
              <a:t>1-tap bookmarking of favorite artisanal finds with 1-click cart migration.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886200"/>
            <a:ext cx="3383280" cy="2011680"/>
          </a:xfrm>
          <a:prstGeom prst="roundRect">
            <a:avLst/>
          </a:prstGeom>
          <a:solidFill>
            <a:srgbClr val="E6EBDE"/>
          </a:solidFill>
          <a:ln>
            <a:solidFill>
              <a:srgbClr val="D4D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51560" y="4114800"/>
            <a:ext cx="502920" cy="50292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/>
            </a:pPr>
            <a:r>
              <a:t>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709160"/>
            <a:ext cx="2926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C1815"/>
                </a:solidFill>
                <a:latin typeface="Georgia"/>
              </a:defRPr>
            </a:pPr>
            <a:r>
              <a:t>Stripe Checkout</a:t>
            </a:r>
          </a:p>
          <a:p>
            <a:pPr>
              <a:spcBef>
                <a:spcPts val="400"/>
              </a:spcBef>
              <a:defRPr sz="1000">
                <a:solidFill>
                  <a:srgbClr val="6E645C"/>
                </a:solidFill>
                <a:latin typeface="Calibri"/>
              </a:defRPr>
            </a:pPr>
            <a:r>
              <a:t>Integrated Stripe Elements tokenization with automated multi-vendor order split.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3886200"/>
            <a:ext cx="3383280" cy="2011680"/>
          </a:xfrm>
          <a:prstGeom prst="roundRect">
            <a:avLst/>
          </a:prstGeom>
          <a:solidFill>
            <a:srgbClr val="E6EBDE"/>
          </a:solidFill>
          <a:ln>
            <a:solidFill>
              <a:srgbClr val="D4D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617720" y="4114800"/>
            <a:ext cx="502920" cy="50292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/>
            </a:pPr>
            <a:r>
              <a:t>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4709160"/>
            <a:ext cx="2926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C1815"/>
                </a:solidFill>
                <a:latin typeface="Georgia"/>
              </a:defRPr>
            </a:pPr>
            <a:r>
              <a:t>Itemized Tracking</a:t>
            </a:r>
          </a:p>
          <a:p>
            <a:pPr>
              <a:spcBef>
                <a:spcPts val="400"/>
              </a:spcBef>
              <a:defRPr sz="1000">
                <a:solidFill>
                  <a:srgbClr val="6E645C"/>
                </a:solidFill>
                <a:latin typeface="Calibri"/>
              </a:defRPr>
            </a:pPr>
            <a:r>
              <a:t>Line-item shipment updates: Processing → Confirmed → Shipped → Delivered.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55279" y="3886200"/>
            <a:ext cx="3383280" cy="2011680"/>
          </a:xfrm>
          <a:prstGeom prst="roundRect">
            <a:avLst/>
          </a:prstGeom>
          <a:solidFill>
            <a:srgbClr val="E6EBDE"/>
          </a:solidFill>
          <a:ln>
            <a:solidFill>
              <a:srgbClr val="D4D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183879" y="4114800"/>
            <a:ext cx="502920" cy="50292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/>
            </a:pPr>
            <a:r>
              <a:t>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79" y="4709160"/>
            <a:ext cx="2926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C1815"/>
                </a:solidFill>
                <a:latin typeface="Georgia"/>
              </a:defRPr>
            </a:pPr>
            <a:r>
              <a:t>Verified Reviews</a:t>
            </a:r>
          </a:p>
          <a:p>
            <a:pPr>
              <a:spcBef>
                <a:spcPts val="400"/>
              </a:spcBef>
              <a:defRPr sz="1000">
                <a:solidFill>
                  <a:srgbClr val="6E645C"/>
                </a:solidFill>
                <a:latin typeface="Calibri"/>
              </a:defRPr>
            </a:pPr>
            <a:r>
              <a:t>Strictly locked to confirmed delivered orders, eliminating counterfeit ratings.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01E18"/>
          </a:solidFill>
          <a:ln>
            <a:solidFill>
              <a:srgbClr val="301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522D23"/>
          </a:solidFill>
          <a:ln>
            <a:solidFill>
              <a:srgbClr val="52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058400" y="3657600"/>
            <a:ext cx="4114800" cy="4114800"/>
          </a:xfrm>
          <a:prstGeom prst="ellipse">
            <a:avLst/>
          </a:prstGeom>
          <a:solidFill>
            <a:srgbClr val="404C3E"/>
          </a:solidFill>
          <a:ln>
            <a:solidFill>
              <a:srgbClr val="404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2179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DC3B9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C24B2D"/>
                </a:solidFill>
                <a:latin typeface="Calibri"/>
              </a:defRPr>
            </a:pPr>
            <a:r>
              <a:t>V E N D O R   P A N E 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0467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Georgia"/>
              </a:defRPr>
            </a:pPr>
            <a:r>
              <a:t>Everything an artisan needs to run a studio shop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1645920"/>
            <a:ext cx="502920" cy="502920"/>
          </a:xfrm>
          <a:prstGeom prst="ellipse">
            <a:avLst/>
          </a:prstGeom>
          <a:solidFill>
            <a:srgbClr val="402820"/>
          </a:solidFill>
          <a:ln>
            <a:solidFill>
              <a:srgbClr val="C24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/>
            </a:pPr>
            <a:r>
              <a:t>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600200"/>
            <a:ext cx="4389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FFFFF"/>
                </a:solidFill>
                <a:latin typeface="Georgia"/>
              </a:defRPr>
            </a:pPr>
            <a:r>
              <a:t>Shop Profiles</a:t>
            </a:r>
          </a:p>
          <a:p>
            <a:pPr>
              <a:defRPr sz="1000">
                <a:solidFill>
                  <a:srgbClr val="CDC3B9"/>
                </a:solidFill>
                <a:latin typeface="Calibri"/>
              </a:defRPr>
            </a:pPr>
            <a:r>
              <a:t>Custom studio logo, banner, workshop bio, phone, and address.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724912"/>
            <a:ext cx="502920" cy="502920"/>
          </a:xfrm>
          <a:prstGeom prst="ellipse">
            <a:avLst/>
          </a:prstGeom>
          <a:solidFill>
            <a:srgbClr val="402820"/>
          </a:solidFill>
          <a:ln>
            <a:solidFill>
              <a:srgbClr val="C24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/>
            </a:pPr>
            <a:r>
              <a:t>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679192"/>
            <a:ext cx="4389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FFFFF"/>
                </a:solidFill>
                <a:latin typeface="Georgia"/>
              </a:defRPr>
            </a:pPr>
            <a:r>
              <a:t>Product CRUD</a:t>
            </a:r>
          </a:p>
          <a:p>
            <a:pPr>
              <a:defRPr sz="1000">
                <a:solidFill>
                  <a:srgbClr val="CDC3B9"/>
                </a:solidFill>
                <a:latin typeface="Calibri"/>
              </a:defRPr>
            </a:pPr>
            <a:r>
              <a:t>Publish creations, set price &amp; SKU, toggle stock, upload up to 5 images.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803904"/>
            <a:ext cx="502920" cy="502920"/>
          </a:xfrm>
          <a:prstGeom prst="ellipse">
            <a:avLst/>
          </a:prstGeom>
          <a:solidFill>
            <a:srgbClr val="402820"/>
          </a:solidFill>
          <a:ln>
            <a:solidFill>
              <a:srgbClr val="C24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/>
            </a:pPr>
            <a:r>
              <a:t>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758184"/>
            <a:ext cx="4389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FFFFF"/>
                </a:solidFill>
                <a:latin typeface="Georgia"/>
              </a:defRPr>
            </a:pPr>
            <a:r>
              <a:t>Order Logistics</a:t>
            </a:r>
          </a:p>
          <a:p>
            <a:pPr>
              <a:defRPr sz="1000">
                <a:solidFill>
                  <a:srgbClr val="CDC3B9"/>
                </a:solidFill>
                <a:latin typeface="Calibri"/>
              </a:defRPr>
            </a:pPr>
            <a:r>
              <a:t>Update line-item shipment statuses; competing vendors' totals stay masked.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4882896"/>
            <a:ext cx="502920" cy="502920"/>
          </a:xfrm>
          <a:prstGeom prst="ellipse">
            <a:avLst/>
          </a:prstGeom>
          <a:solidFill>
            <a:srgbClr val="402820"/>
          </a:solidFill>
          <a:ln>
            <a:solidFill>
              <a:srgbClr val="C24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/>
            </a:pPr>
            <a:r>
              <a:t>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837176"/>
            <a:ext cx="4389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FFFFF"/>
                </a:solidFill>
                <a:latin typeface="Georgia"/>
              </a:defRPr>
            </a:pPr>
            <a:r>
              <a:t>Earnings Reports</a:t>
            </a:r>
          </a:p>
          <a:p>
            <a:pPr>
              <a:defRPr sz="1000">
                <a:solidFill>
                  <a:srgbClr val="CDC3B9"/>
                </a:solidFill>
                <a:latin typeface="Calibri"/>
              </a:defRPr>
            </a:pPr>
            <a:r>
              <a:t>Live Recharts graphs showing sales, net income after 5% fee, and top products.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508760"/>
            <a:ext cx="51206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1691640"/>
            <a:ext cx="2860078" cy="8079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E645C"/>
                </a:solidFill>
                <a:latin typeface="Calibri"/>
              </a:defRPr>
            </a:pPr>
            <a:r>
              <a:rPr dirty="0"/>
              <a:t>M O N T H L Y   S A L E S   ·   T E R </a:t>
            </a:r>
            <a:r>
              <a:rPr dirty="0" err="1"/>
              <a:t>R</a:t>
            </a:r>
            <a:r>
              <a:rPr dirty="0"/>
              <a:t> A   &amp;   K I L N</a:t>
            </a:r>
          </a:p>
          <a:p>
            <a:pPr>
              <a:defRPr sz="2800" b="1">
                <a:solidFill>
                  <a:srgbClr val="1C1815"/>
                </a:solidFill>
                <a:latin typeface="Georgia"/>
              </a:defRPr>
            </a:pPr>
            <a:r>
              <a:rPr dirty="0"/>
              <a:t>$12,48</a:t>
            </a:r>
            <a:r>
              <a:rPr lang="en-US" dirty="0"/>
              <a:t>0</a:t>
            </a:r>
            <a:endParaRPr dirty="0"/>
          </a:p>
          <a:p>
            <a:pPr>
              <a:defRPr sz="950" b="1">
                <a:solidFill>
                  <a:srgbClr val="C24B2D"/>
                </a:solidFill>
                <a:latin typeface="Calibri"/>
              </a:defRPr>
            </a:pPr>
            <a:r>
              <a:rPr dirty="0"/>
              <a:t>Net Payout: $11,856 (95%)  ·  Commission: $624 (5%)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4348480"/>
            <a:ext cx="594360" cy="406400"/>
          </a:xfrm>
          <a:prstGeom prst="rect">
            <a:avLst/>
          </a:prstGeom>
          <a:solidFill>
            <a:srgbClr val="C24B2D"/>
          </a:solidFill>
          <a:ln>
            <a:solidFill>
              <a:srgbClr val="C24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0" y="4800600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E645C"/>
                </a:solidFill>
                <a:latin typeface="Calibri"/>
              </a:defRPr>
            </a:pPr>
            <a:r>
              <a:t>Oct 01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43800" y="4156659"/>
            <a:ext cx="594360" cy="598220"/>
          </a:xfrm>
          <a:prstGeom prst="rect">
            <a:avLst/>
          </a:prstGeom>
          <a:solidFill>
            <a:srgbClr val="C24B2D"/>
          </a:solidFill>
          <a:ln>
            <a:solidFill>
              <a:srgbClr val="C24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52360" y="4800600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E645C"/>
                </a:solidFill>
                <a:latin typeface="Calibri"/>
              </a:defRPr>
            </a:pPr>
            <a:r>
              <a:t>Oct 15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0" y="4072128"/>
            <a:ext cx="594360" cy="682752"/>
          </a:xfrm>
          <a:prstGeom prst="rect">
            <a:avLst/>
          </a:prstGeom>
          <a:solidFill>
            <a:srgbClr val="C24B2D"/>
          </a:solidFill>
          <a:ln>
            <a:solidFill>
              <a:srgbClr val="C24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21040" y="4800600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E645C"/>
                </a:solidFill>
                <a:latin typeface="Calibri"/>
              </a:defRPr>
            </a:pPr>
            <a:r>
              <a:t>Nov 01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81159" y="3795776"/>
            <a:ext cx="594360" cy="959104"/>
          </a:xfrm>
          <a:prstGeom prst="rect">
            <a:avLst/>
          </a:prstGeom>
          <a:solidFill>
            <a:srgbClr val="C24B2D"/>
          </a:solidFill>
          <a:ln>
            <a:solidFill>
              <a:srgbClr val="C24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89719" y="4800600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E645C"/>
                </a:solidFill>
                <a:latin typeface="Calibri"/>
              </a:defRPr>
            </a:pPr>
            <a:r>
              <a:t>Nov 15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149840" y="3343859"/>
            <a:ext cx="594360" cy="1411020"/>
          </a:xfrm>
          <a:prstGeom prst="rect">
            <a:avLst/>
          </a:prstGeom>
          <a:solidFill>
            <a:srgbClr val="C24B2D"/>
          </a:solidFill>
          <a:ln>
            <a:solidFill>
              <a:srgbClr val="C24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58400" y="4800600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E645C"/>
                </a:solidFill>
                <a:latin typeface="Calibri"/>
              </a:defRPr>
            </a:pPr>
            <a:r>
              <a:t>Dec 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516636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6E645C"/>
                </a:solidFill>
                <a:latin typeface="Calibri"/>
              </a:defRPr>
            </a:pPr>
            <a:r>
              <a:t>T O P   S E L L I N G   P R O D U C T S</a:t>
            </a:r>
          </a:p>
          <a:p>
            <a:pPr>
              <a:spcBef>
                <a:spcPts val="200"/>
              </a:spcBef>
              <a:defRPr sz="950" b="1">
                <a:solidFill>
                  <a:srgbClr val="1C1815"/>
                </a:solidFill>
                <a:latin typeface="Calibri"/>
              </a:defRPr>
            </a:pPr>
            <a:r>
              <a:t>● Hand-Thrown Obsidian Vase ($4,060)   ● Shino Matcha Bowl ($2,090)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>
            <a:solidFill>
              <a:srgbClr val="F8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24B2D"/>
          </a:solidFill>
          <a:ln>
            <a:solidFill>
              <a:srgbClr val="C24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0" y="62179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E645C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179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E645C"/>
                </a:solidFill>
                <a:latin typeface="Calibri"/>
              </a:defRPr>
            </a:pPr>
            <a:r>
              <a:t>ARTISAN'S CORNER · https://artisan-corner-ten.vercel.app/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C24B2D"/>
                </a:solidFill>
                <a:latin typeface="Calibri"/>
              </a:defRPr>
            </a:pPr>
            <a:r>
              <a:t>A D M I N   C O N T R O L 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0467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C1815"/>
                </a:solidFill>
                <a:latin typeface="Georgia"/>
              </a:defRPr>
            </a:pPr>
            <a:r>
              <a:t>Oversight for a healthy, sustainable marketplace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45920"/>
            <a:ext cx="3383280" cy="4297680"/>
          </a:xfrm>
          <a:prstGeom prst="roundRect">
            <a:avLst/>
          </a:prstGeom>
          <a:solidFill>
            <a:srgbClr val="E6EBDE"/>
          </a:solidFill>
          <a:ln>
            <a:solidFill>
              <a:srgbClr val="D4D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43000" y="2011680"/>
            <a:ext cx="594360" cy="594360"/>
          </a:xfrm>
          <a:prstGeom prst="ellipse">
            <a:avLst/>
          </a:prstGeom>
          <a:solidFill>
            <a:srgbClr val="C24B2D"/>
          </a:solidFill>
          <a:ln>
            <a:solidFill>
              <a:srgbClr val="C24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83464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C1815"/>
                </a:solidFill>
                <a:latin typeface="Georgia"/>
              </a:defRPr>
            </a:pPr>
            <a:r>
              <a:t>Approval Queues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050">
                <a:solidFill>
                  <a:srgbClr val="6E645C"/>
                </a:solidFill>
                <a:latin typeface="Calibri"/>
              </a:defRPr>
            </a:pPr>
            <a:r>
              <a:t>Review pending artisan shop submissions; verify studio addresses and bios; 1-click approve to upgrade to Vendor role.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45920"/>
            <a:ext cx="3383280" cy="4297680"/>
          </a:xfrm>
          <a:prstGeom prst="roundRect">
            <a:avLst/>
          </a:prstGeom>
          <a:solidFill>
            <a:srgbClr val="E6EBDE"/>
          </a:solidFill>
          <a:ln>
            <a:solidFill>
              <a:srgbClr val="D4D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709159" y="2011680"/>
            <a:ext cx="594360" cy="594360"/>
          </a:xfrm>
          <a:prstGeom prst="ellipse">
            <a:avLst/>
          </a:prstGeom>
          <a:solidFill>
            <a:srgbClr val="C24B2D"/>
          </a:solidFill>
          <a:ln>
            <a:solidFill>
              <a:srgbClr val="C24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59" y="283464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C1815"/>
                </a:solidFill>
                <a:latin typeface="Georgia"/>
              </a:defRPr>
            </a:pPr>
            <a:r>
              <a:t>System Margin Control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050">
                <a:solidFill>
                  <a:srgbClr val="6E645C"/>
                </a:solidFill>
                <a:latin typeface="Calibri"/>
              </a:defRPr>
            </a:pPr>
            <a:r>
              <a:t>Dynamically configure global platform commission (5%), sales tax percentage, and universal flat shipping rules.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645920"/>
            <a:ext cx="3383280" cy="4297680"/>
          </a:xfrm>
          <a:prstGeom prst="roundRect">
            <a:avLst/>
          </a:prstGeom>
          <a:solidFill>
            <a:srgbClr val="E6EBDE"/>
          </a:solidFill>
          <a:ln>
            <a:solidFill>
              <a:srgbClr val="D4D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275319" y="2011680"/>
            <a:ext cx="594360" cy="594360"/>
          </a:xfrm>
          <a:prstGeom prst="ellipse">
            <a:avLst/>
          </a:prstGeom>
          <a:solidFill>
            <a:srgbClr val="C24B2D"/>
          </a:solidFill>
          <a:ln>
            <a:solidFill>
              <a:srgbClr val="C24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19" y="283464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C1815"/>
                </a:solidFill>
                <a:latin typeface="Georgia"/>
              </a:defRPr>
            </a:pPr>
            <a:r>
              <a:t>Consolidated Analytics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050">
                <a:solidFill>
                  <a:srgbClr val="6E645C"/>
                </a:solidFill>
                <a:latin typeface="Calibri"/>
              </a:defRPr>
            </a:pPr>
            <a:r>
              <a:t>Track $89,450 Gross Marketplace Volume (GMV), $4,472 platform fee earnings, 38 active vendors, and macro sales velocity.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>
            <a:solidFill>
              <a:srgbClr val="F8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24B2D"/>
          </a:solidFill>
          <a:ln>
            <a:solidFill>
              <a:srgbClr val="C24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0" y="62179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E645C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179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E645C"/>
                </a:solidFill>
                <a:latin typeface="Calibri"/>
              </a:defRPr>
            </a:pPr>
            <a:r>
              <a:t>ARTISAN'S CORNER · https://artisan-corner-ten.vercel.app/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C24B2D"/>
                </a:solidFill>
                <a:latin typeface="Calibri"/>
              </a:defRPr>
            </a:pPr>
            <a:r>
              <a:t>T E C H   S T A C 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0467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C1815"/>
                </a:solidFill>
                <a:latin typeface="Georgia"/>
              </a:defRPr>
            </a:pPr>
            <a:r>
              <a:t>Built on a proven modern MERN foundation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45920"/>
            <a:ext cx="5120640" cy="4389120"/>
          </a:xfrm>
          <a:prstGeom prst="roundRect">
            <a:avLst/>
          </a:prstGeom>
          <a:solidFill>
            <a:srgbClr val="EEF0EB"/>
          </a:solidFill>
          <a:ln>
            <a:solidFill>
              <a:srgbClr val="DC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1874519"/>
            <a:ext cx="457200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E645C"/>
                </a:solidFill>
                <a:latin typeface="Calibri"/>
              </a:defRPr>
            </a:pPr>
            <a:r>
              <a:t>F R O N T E N D   A R C H I T E C T U R E</a:t>
            </a:r>
          </a:p>
          <a:p>
            <a:pPr>
              <a:spcBef>
                <a:spcPts val="600"/>
              </a:spcBef>
              <a:defRPr sz="1000">
                <a:solidFill>
                  <a:srgbClr val="1C1815"/>
                </a:solidFill>
                <a:latin typeface="Calibri"/>
              </a:defRPr>
            </a:pPr>
            <a:r>
              <a:t>●  React 18 + Vite — Ultra-fast HMR and optimized production bundle</a:t>
            </a:r>
          </a:p>
          <a:p>
            <a:pPr>
              <a:spcBef>
                <a:spcPts val="600"/>
              </a:spcBef>
              <a:defRPr sz="1000">
                <a:solidFill>
                  <a:srgbClr val="1C1815"/>
                </a:solidFill>
                <a:latin typeface="Calibri"/>
              </a:defRPr>
            </a:pPr>
            <a:r>
              <a:t>●  Tailwind CSS v3 — Custom luxury design system and responsive grid</a:t>
            </a:r>
          </a:p>
          <a:p>
            <a:pPr>
              <a:spcBef>
                <a:spcPts val="600"/>
              </a:spcBef>
              <a:defRPr sz="1000">
                <a:solidFill>
                  <a:srgbClr val="1C1815"/>
                </a:solidFill>
                <a:latin typeface="Calibri"/>
              </a:defRPr>
            </a:pPr>
            <a:r>
              <a:t>●  Redux Toolkit — Global cart, wishlist, and session state persistence</a:t>
            </a:r>
          </a:p>
          <a:p>
            <a:pPr>
              <a:spcBef>
                <a:spcPts val="600"/>
              </a:spcBef>
              <a:defRPr sz="1000">
                <a:solidFill>
                  <a:srgbClr val="1C1815"/>
                </a:solidFill>
                <a:latin typeface="Calibri"/>
              </a:defRPr>
            </a:pPr>
            <a:r>
              <a:t>●  React Hook Form + Zod — Type-safe client validation across checkout and forms</a:t>
            </a:r>
          </a:p>
          <a:p>
            <a:pPr>
              <a:spcBef>
                <a:spcPts val="600"/>
              </a:spcBef>
              <a:defRPr sz="1000">
                <a:solidFill>
                  <a:srgbClr val="1C1815"/>
                </a:solidFill>
                <a:latin typeface="Calibri"/>
              </a:defRPr>
            </a:pPr>
            <a:r>
              <a:t>●  Recharts — Interactive SVG time-series charts for seller/admin analytics</a:t>
            </a:r>
          </a:p>
          <a:p>
            <a:pPr>
              <a:spcBef>
                <a:spcPts val="600"/>
              </a:spcBef>
              <a:defRPr sz="1000">
                <a:solidFill>
                  <a:srgbClr val="1C1815"/>
                </a:solidFill>
                <a:latin typeface="Calibri"/>
              </a:defRPr>
            </a:pPr>
            <a:r>
              <a:t>●  Lucide React Icons — Crisp, lightweight iconography across all surfaces</a:t>
            </a:r>
          </a:p>
          <a:p>
            <a:pPr>
              <a:spcBef>
                <a:spcPts val="600"/>
              </a:spcBef>
              <a:defRPr sz="1000">
                <a:solidFill>
                  <a:srgbClr val="1C1815"/>
                </a:solidFill>
                <a:latin typeface="Calibri"/>
              </a:defRPr>
            </a:pPr>
            <a:r>
              <a:t>●  React Hot Toast — Real-time user feedback for cart, wishlist, and auth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CF4F0"/>
          </a:solidFill>
          <a:ln>
            <a:solidFill>
              <a:srgbClr val="F0C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874519"/>
            <a:ext cx="457200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24B2D"/>
                </a:solidFill>
                <a:latin typeface="Calibri"/>
              </a:defRPr>
            </a:pPr>
            <a:r>
              <a:t>B A C K E N D   &amp;   D A T A   S U R F A C E</a:t>
            </a:r>
          </a:p>
          <a:p>
            <a:pPr>
              <a:spcBef>
                <a:spcPts val="600"/>
              </a:spcBef>
              <a:defRPr sz="1000">
                <a:solidFill>
                  <a:srgbClr val="1C1815"/>
                </a:solidFill>
                <a:latin typeface="Calibri"/>
              </a:defRPr>
            </a:pPr>
            <a:r>
              <a:t>●  Node.js + Express 5 — Modular REST API controllers, middleware, and services</a:t>
            </a:r>
          </a:p>
          <a:p>
            <a:pPr>
              <a:spcBef>
                <a:spcPts val="600"/>
              </a:spcBef>
              <a:defRPr sz="1000">
                <a:solidFill>
                  <a:srgbClr val="1C1815"/>
                </a:solidFill>
                <a:latin typeface="Calibri"/>
              </a:defRPr>
            </a:pPr>
            <a:r>
              <a:t>●  MongoDB + Mongoose — Document data store with relational population</a:t>
            </a:r>
          </a:p>
          <a:p>
            <a:pPr>
              <a:spcBef>
                <a:spcPts val="600"/>
              </a:spcBef>
              <a:defRPr sz="1000">
                <a:solidFill>
                  <a:srgbClr val="1C1815"/>
                </a:solidFill>
                <a:latin typeface="Calibri"/>
              </a:defRPr>
            </a:pPr>
            <a:r>
              <a:t>●  JWT in HttpOnly Cookies — Stateless session authentication immune to XSS theft</a:t>
            </a:r>
          </a:p>
          <a:p>
            <a:pPr>
              <a:spcBef>
                <a:spcPts val="600"/>
              </a:spcBef>
              <a:defRPr sz="1000">
                <a:solidFill>
                  <a:srgbClr val="1C1815"/>
                </a:solidFill>
                <a:latin typeface="Calibri"/>
              </a:defRPr>
            </a:pPr>
            <a:r>
              <a:t>●  Bcrypt Hashing — Salted password hashing safeguarding customer accounts</a:t>
            </a:r>
          </a:p>
          <a:p>
            <a:pPr>
              <a:spcBef>
                <a:spcPts val="600"/>
              </a:spcBef>
              <a:defRPr sz="1000">
                <a:solidFill>
                  <a:srgbClr val="1C1815"/>
                </a:solidFill>
                <a:latin typeface="Calibri"/>
              </a:defRPr>
            </a:pPr>
            <a:r>
              <a:t>●  Multer + Cloudinary v2 — Direct multi-image upload with auto WebP optimization</a:t>
            </a:r>
          </a:p>
          <a:p>
            <a:pPr>
              <a:spcBef>
                <a:spcPts val="600"/>
              </a:spcBef>
              <a:defRPr sz="1000">
                <a:solidFill>
                  <a:srgbClr val="1C1815"/>
                </a:solidFill>
                <a:latin typeface="Calibri"/>
              </a:defRPr>
            </a:pPr>
            <a:r>
              <a:t>●  Stripe SDK — PCI-DSS compliant payment intent creation &amp; webhooks</a:t>
            </a:r>
          </a:p>
          <a:p>
            <a:pPr>
              <a:spcBef>
                <a:spcPts val="600"/>
              </a:spcBef>
              <a:defRPr sz="1000">
                <a:solidFill>
                  <a:srgbClr val="1C1815"/>
                </a:solidFill>
                <a:latin typeface="Calibri"/>
              </a:defRPr>
            </a:pPr>
            <a:r>
              <a:t>●  Helmet · CORS · Rate-Limit — Hardened defense against brute-force and DDoS bursts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01E18"/>
          </a:solidFill>
          <a:ln>
            <a:solidFill>
              <a:srgbClr val="301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522D23"/>
          </a:solidFill>
          <a:ln>
            <a:solidFill>
              <a:srgbClr val="52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058400" y="3657600"/>
            <a:ext cx="4114800" cy="4114800"/>
          </a:xfrm>
          <a:prstGeom prst="ellipse">
            <a:avLst/>
          </a:prstGeom>
          <a:solidFill>
            <a:srgbClr val="404C3E"/>
          </a:solidFill>
          <a:ln>
            <a:solidFill>
              <a:srgbClr val="404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2179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DC3B9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C24B2D"/>
                </a:solidFill>
                <a:latin typeface="Calibri"/>
              </a:defRPr>
            </a:pPr>
            <a:r>
              <a:t>A R C H I T E C T U R 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0467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Georgia"/>
              </a:defRPr>
            </a:pPr>
            <a:r>
              <a:t>A relational core beneath a document store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926080" y="1984248"/>
            <a:ext cx="1005840" cy="484632"/>
          </a:xfrm>
          <a:prstGeom prst="line">
            <a:avLst/>
          </a:prstGeom>
          <a:ln w="25400">
            <a:solidFill>
              <a:srgbClr val="DC6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154680" y="1920240"/>
            <a:ext cx="530352" cy="292608"/>
          </a:xfrm>
          <a:prstGeom prst="roundRect">
            <a:avLst/>
          </a:prstGeom>
          <a:solidFill>
            <a:srgbClr val="522D23"/>
          </a:solidFill>
          <a:ln w="12700">
            <a:solidFill>
              <a:srgbClr val="C24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DCC8"/>
                </a:solidFill>
                <a:latin typeface="Calibri"/>
              </a:defRPr>
            </a:pPr>
            <a:r>
              <a:t>1:1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26080" y="2834640"/>
            <a:ext cx="1005840" cy="731520"/>
          </a:xfrm>
          <a:prstGeom prst="line">
            <a:avLst/>
          </a:prstGeom>
          <a:ln w="25400">
            <a:solidFill>
              <a:srgbClr val="DC6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154680" y="3108960"/>
            <a:ext cx="530352" cy="292608"/>
          </a:xfrm>
          <a:prstGeom prst="roundRect">
            <a:avLst/>
          </a:prstGeom>
          <a:solidFill>
            <a:srgbClr val="522D23"/>
          </a:solidFill>
          <a:ln w="12700">
            <a:solidFill>
              <a:srgbClr val="C24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DCC8"/>
                </a:solidFill>
                <a:latin typeface="Calibri"/>
              </a:defRPr>
            </a:pPr>
            <a:r>
              <a:t>1:1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11680" y="3108960"/>
            <a:ext cx="0" cy="1234440"/>
          </a:xfrm>
          <a:prstGeom prst="line">
            <a:avLst/>
          </a:prstGeom>
          <a:ln w="25400">
            <a:solidFill>
              <a:srgbClr val="DC6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148840" y="3611880"/>
            <a:ext cx="530352" cy="292608"/>
          </a:xfrm>
          <a:prstGeom prst="roundRect">
            <a:avLst/>
          </a:prstGeom>
          <a:solidFill>
            <a:srgbClr val="522D23"/>
          </a:solidFill>
          <a:ln w="12700">
            <a:solidFill>
              <a:srgbClr val="C24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DCC8"/>
                </a:solidFill>
                <a:latin typeface="Calibri"/>
              </a:defRPr>
            </a:pPr>
            <a:r>
              <a:t>1:1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760720" y="1984248"/>
            <a:ext cx="1005840" cy="484632"/>
          </a:xfrm>
          <a:prstGeom prst="line">
            <a:avLst/>
          </a:prstGeom>
          <a:ln w="25400">
            <a:solidFill>
              <a:srgbClr val="DC6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035040" y="1920240"/>
            <a:ext cx="530352" cy="292608"/>
          </a:xfrm>
          <a:prstGeom prst="roundRect">
            <a:avLst/>
          </a:prstGeom>
          <a:solidFill>
            <a:srgbClr val="522D23"/>
          </a:solidFill>
          <a:ln w="12700">
            <a:solidFill>
              <a:srgbClr val="C24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DCC8"/>
                </a:solidFill>
                <a:latin typeface="Calibri"/>
              </a:defRPr>
            </a:pPr>
            <a:r>
              <a:t>1:N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5760720" y="2834640"/>
            <a:ext cx="1005840" cy="731520"/>
          </a:xfrm>
          <a:prstGeom prst="line">
            <a:avLst/>
          </a:prstGeom>
          <a:ln w="25400">
            <a:solidFill>
              <a:srgbClr val="DC6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035040" y="3108960"/>
            <a:ext cx="530352" cy="292608"/>
          </a:xfrm>
          <a:prstGeom prst="roundRect">
            <a:avLst/>
          </a:prstGeom>
          <a:solidFill>
            <a:srgbClr val="522D23"/>
          </a:solidFill>
          <a:ln w="12700">
            <a:solidFill>
              <a:srgbClr val="C24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DCC8"/>
                </a:solidFill>
                <a:latin typeface="Calibri"/>
              </a:defRPr>
            </a:pPr>
            <a:r>
              <a:t>N:M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80960" y="3108960"/>
            <a:ext cx="0" cy="1234440"/>
          </a:xfrm>
          <a:prstGeom prst="line">
            <a:avLst/>
          </a:prstGeom>
          <a:ln w="25400">
            <a:solidFill>
              <a:srgbClr val="DC6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818120" y="3611880"/>
            <a:ext cx="530352" cy="292608"/>
          </a:xfrm>
          <a:prstGeom prst="roundRect">
            <a:avLst/>
          </a:prstGeom>
          <a:solidFill>
            <a:srgbClr val="522D23"/>
          </a:solidFill>
          <a:ln w="12700">
            <a:solidFill>
              <a:srgbClr val="C24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DCC8"/>
                </a:solidFill>
                <a:latin typeface="Calibri"/>
              </a:defRPr>
            </a:pPr>
            <a:r>
              <a:t>1:N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926080" y="2926080"/>
            <a:ext cx="3840480" cy="1645920"/>
          </a:xfrm>
          <a:prstGeom prst="line">
            <a:avLst/>
          </a:prstGeom>
          <a:ln w="25400">
            <a:solidFill>
              <a:srgbClr val="DC6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389120" y="4389120"/>
            <a:ext cx="530352" cy="292608"/>
          </a:xfrm>
          <a:prstGeom prst="roundRect">
            <a:avLst/>
          </a:prstGeom>
          <a:solidFill>
            <a:srgbClr val="522D23"/>
          </a:solidFill>
          <a:ln w="12700">
            <a:solidFill>
              <a:srgbClr val="C24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DCC8"/>
                </a:solidFill>
                <a:latin typeface="Calibri"/>
              </a:defRPr>
            </a:pPr>
            <a:r>
              <a:t>1:N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2286000" y="1828800"/>
            <a:ext cx="7132320" cy="457200"/>
          </a:xfrm>
          <a:prstGeom prst="line">
            <a:avLst/>
          </a:prstGeom>
          <a:ln w="25400">
            <a:solidFill>
              <a:srgbClr val="DC6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486400" y="1280160"/>
            <a:ext cx="530352" cy="292608"/>
          </a:xfrm>
          <a:prstGeom prst="roundRect">
            <a:avLst/>
          </a:prstGeom>
          <a:solidFill>
            <a:srgbClr val="522D23"/>
          </a:solidFill>
          <a:ln w="12700">
            <a:solidFill>
              <a:srgbClr val="C24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DCC8"/>
                </a:solidFill>
                <a:latin typeface="Calibri"/>
              </a:defRPr>
            </a:pPr>
            <a:r>
              <a:t>1:N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332720" y="2377440"/>
            <a:ext cx="0" cy="960120"/>
          </a:xfrm>
          <a:prstGeom prst="line">
            <a:avLst/>
          </a:prstGeom>
          <a:ln w="25400">
            <a:solidFill>
              <a:srgbClr val="DC6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0469880" y="2743200"/>
            <a:ext cx="530352" cy="292608"/>
          </a:xfrm>
          <a:prstGeom prst="roundRect">
            <a:avLst/>
          </a:prstGeom>
          <a:solidFill>
            <a:srgbClr val="522D23"/>
          </a:solidFill>
          <a:ln w="12700">
            <a:solidFill>
              <a:srgbClr val="C24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DCC8"/>
                </a:solidFill>
                <a:latin typeface="Calibri"/>
              </a:defRPr>
            </a:pPr>
            <a:r>
              <a:t>1:N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595360" y="2697480"/>
            <a:ext cx="822960" cy="868680"/>
          </a:xfrm>
          <a:prstGeom prst="line">
            <a:avLst/>
          </a:prstGeom>
          <a:ln w="25400">
            <a:solidFill>
              <a:srgbClr val="DC6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778240" y="2926080"/>
            <a:ext cx="530352" cy="292608"/>
          </a:xfrm>
          <a:prstGeom prst="roundRect">
            <a:avLst/>
          </a:prstGeom>
          <a:solidFill>
            <a:srgbClr val="522D23"/>
          </a:solidFill>
          <a:ln w="12700">
            <a:solidFill>
              <a:srgbClr val="C24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DCC8"/>
                </a:solidFill>
                <a:latin typeface="Calibri"/>
              </a:defRPr>
            </a:pPr>
            <a:r>
              <a:t>1:N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2286000"/>
            <a:ext cx="1828800" cy="822960"/>
          </a:xfrm>
          <a:prstGeom prst="roundRect">
            <a:avLst/>
          </a:prstGeom>
          <a:solidFill>
            <a:srgbClr val="C24B2D"/>
          </a:solidFill>
          <a:ln w="19050">
            <a:solidFill>
              <a:srgbClr val="C24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Georgia"/>
              </a:defRPr>
            </a:pPr>
            <a:r>
              <a:t>User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931920" y="1600200"/>
            <a:ext cx="1828800" cy="777240"/>
          </a:xfrm>
          <a:prstGeom prst="roundRect">
            <a:avLst/>
          </a:prstGeom>
          <a:solidFill>
            <a:srgbClr val="402820"/>
          </a:solidFill>
          <a:ln w="19050">
            <a:solidFill>
              <a:srgbClr val="C24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Georgia"/>
              </a:defRPr>
            </a:pPr>
            <a:r>
              <a:t>Store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31920" y="3337560"/>
            <a:ext cx="1828800" cy="777240"/>
          </a:xfrm>
          <a:prstGeom prst="roundRect">
            <a:avLst/>
          </a:prstGeom>
          <a:solidFill>
            <a:srgbClr val="402820"/>
          </a:solidFill>
          <a:ln w="19050">
            <a:solidFill>
              <a:srgbClr val="C24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Georgia"/>
              </a:defRPr>
            </a:pPr>
            <a:r>
              <a:t>Cart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97280" y="4343400"/>
            <a:ext cx="1828800" cy="777240"/>
          </a:xfrm>
          <a:prstGeom prst="roundRect">
            <a:avLst/>
          </a:prstGeom>
          <a:solidFill>
            <a:srgbClr val="402820"/>
          </a:solidFill>
          <a:ln w="19050">
            <a:solidFill>
              <a:srgbClr val="C24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Georgia"/>
              </a:defRPr>
            </a:pPr>
            <a:r>
              <a:t>Wishlist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66560" y="2286000"/>
            <a:ext cx="1828800" cy="822960"/>
          </a:xfrm>
          <a:prstGeom prst="roundRect">
            <a:avLst/>
          </a:prstGeom>
          <a:solidFill>
            <a:srgbClr val="C24B2D"/>
          </a:solidFill>
          <a:ln w="19050">
            <a:solidFill>
              <a:srgbClr val="C24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Georgia"/>
              </a:defRPr>
            </a:pPr>
            <a:r>
              <a:t>Product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66560" y="4343400"/>
            <a:ext cx="1828800" cy="777240"/>
          </a:xfrm>
          <a:prstGeom prst="roundRect">
            <a:avLst/>
          </a:prstGeom>
          <a:solidFill>
            <a:srgbClr val="402820"/>
          </a:solidFill>
          <a:ln w="19050">
            <a:solidFill>
              <a:srgbClr val="C24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Georgia"/>
              </a:defRPr>
            </a:pPr>
            <a:r>
              <a:t>Review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18320" y="1600200"/>
            <a:ext cx="1828800" cy="777240"/>
          </a:xfrm>
          <a:prstGeom prst="roundRect">
            <a:avLst/>
          </a:prstGeom>
          <a:solidFill>
            <a:srgbClr val="402820"/>
          </a:solidFill>
          <a:ln w="19050">
            <a:solidFill>
              <a:srgbClr val="C24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Georgia"/>
              </a:defRPr>
            </a:pPr>
            <a:r>
              <a:t>Order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18320" y="3337560"/>
            <a:ext cx="1828800" cy="777240"/>
          </a:xfrm>
          <a:prstGeom prst="roundRect">
            <a:avLst/>
          </a:prstGeom>
          <a:solidFill>
            <a:srgbClr val="402820"/>
          </a:solidFill>
          <a:ln w="19050">
            <a:solidFill>
              <a:srgbClr val="C24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Georgia"/>
              </a:defRPr>
            </a:pPr>
            <a:r>
              <a:t>OrderItem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" y="5440680"/>
            <a:ext cx="10545775" cy="822960"/>
          </a:xfrm>
          <a:prstGeom prst="roundRect">
            <a:avLst/>
          </a:prstGeom>
          <a:solidFill>
            <a:srgbClr val="261612"/>
          </a:solidFill>
          <a:ln w="12700">
            <a:solidFill>
              <a:srgbClr val="3C23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E6DCD2"/>
                </a:solidFill>
                <a:latin typeface="Calibri"/>
              </a:defRPr>
            </a:pPr>
            <a:r>
              <a:t>Store 1:N Product    ·    Order 1:N OrderItem    ·    User 1:1 Store, Cart, Wishlist    ·    Product 1:N Review</a:t>
            </a:r>
          </a:p>
          <a:p>
            <a:pPr>
              <a:defRPr sz="950">
                <a:solidFill>
                  <a:srgbClr val="BEB4AA"/>
                </a:solidFill>
                <a:latin typeface="Calibri"/>
              </a:defRPr>
            </a:pPr>
            <a:r>
              <a:t>Compound indexes on email, store slug, and product category keep query latency under 50ms; review aggregations recalculate on write.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>
            <a:solidFill>
              <a:srgbClr val="F8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24B2D"/>
          </a:solidFill>
          <a:ln>
            <a:solidFill>
              <a:srgbClr val="C24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0" y="62179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E645C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179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E645C"/>
                </a:solidFill>
                <a:latin typeface="Calibri"/>
              </a:defRPr>
            </a:pPr>
            <a:r>
              <a:t>ARTISAN'S CORNER · https://artisan-corner-ten.vercel.app/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C24B2D"/>
                </a:solidFill>
                <a:latin typeface="Calibri"/>
              </a:defRPr>
            </a:pPr>
            <a:r>
              <a:t>A P I   S U R F A C 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0467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C1815"/>
                </a:solidFill>
                <a:latin typeface="Georgia"/>
              </a:defRPr>
            </a:pPr>
            <a:r>
              <a:t>A RESTful backbone across four domains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45920"/>
            <a:ext cx="2514600" cy="4297680"/>
          </a:xfrm>
          <a:prstGeom prst="roundRect">
            <a:avLst/>
          </a:prstGeom>
          <a:solidFill>
            <a:srgbClr val="E6EBDE"/>
          </a:solidFill>
          <a:ln>
            <a:solidFill>
              <a:srgbClr val="D4D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51560" y="1874519"/>
            <a:ext cx="502920" cy="50292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/>
            </a:pPr>
            <a:r>
              <a:t>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68880"/>
            <a:ext cx="2148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C1815"/>
                </a:solidFill>
                <a:latin typeface="Georgia"/>
              </a:defRPr>
            </a:pPr>
            <a:r>
              <a:t>Auth Domain</a:t>
            </a:r>
          </a:p>
          <a:p>
            <a:pPr>
              <a:spcBef>
                <a:spcPts val="200"/>
              </a:spcBef>
              <a:defRPr sz="950" b="1">
                <a:solidFill>
                  <a:srgbClr val="C24B2D"/>
                </a:solidFill>
                <a:latin typeface="Calibri"/>
              </a:defRPr>
            </a:pPr>
            <a:r>
              <a:t>/api/auth</a:t>
            </a:r>
          </a:p>
          <a:p>
            <a:pPr>
              <a:spcBef>
                <a:spcPts val="600"/>
              </a:spcBef>
              <a:defRPr sz="900">
                <a:solidFill>
                  <a:srgbClr val="1C1815"/>
                </a:solidFill>
                <a:latin typeface="Calibri"/>
              </a:defRPr>
            </a:pPr>
            <a:r>
              <a:t>• POST /register (Buyer/Seller signup)</a:t>
            </a:r>
          </a:p>
          <a:p>
            <a:pPr>
              <a:spcBef>
                <a:spcPts val="600"/>
              </a:spcBef>
              <a:defRPr sz="900">
                <a:solidFill>
                  <a:srgbClr val="1C1815"/>
                </a:solidFill>
                <a:latin typeface="Calibri"/>
              </a:defRPr>
            </a:pPr>
            <a:r>
              <a:t>• POST /login · POST /logout</a:t>
            </a:r>
          </a:p>
          <a:p>
            <a:pPr>
              <a:spcBef>
                <a:spcPts val="600"/>
              </a:spcBef>
              <a:defRPr sz="900">
                <a:solidFill>
                  <a:srgbClr val="1C1815"/>
                </a:solidFill>
                <a:latin typeface="Calibri"/>
              </a:defRPr>
            </a:pPr>
            <a:r>
              <a:t>• GET /me (Session hydration)</a:t>
            </a:r>
          </a:p>
          <a:p>
            <a:pPr>
              <a:spcBef>
                <a:spcPts val="600"/>
              </a:spcBef>
              <a:defRPr sz="900">
                <a:solidFill>
                  <a:srgbClr val="1C1815"/>
                </a:solidFill>
                <a:latin typeface="Calibri"/>
              </a:defRPr>
            </a:pPr>
            <a:r>
              <a:t>• POST /change-password</a:t>
            </a:r>
          </a:p>
          <a:p>
            <a:pPr>
              <a:spcBef>
                <a:spcPts val="600"/>
              </a:spcBef>
              <a:defRPr sz="900">
                <a:solidFill>
                  <a:srgbClr val="1C1815"/>
                </a:solidFill>
                <a:latin typeface="Calibri"/>
              </a:defRPr>
            </a:pPr>
            <a:r>
              <a:t>• POST /forgot-password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93008" y="1645920"/>
            <a:ext cx="2514600" cy="4297680"/>
          </a:xfrm>
          <a:prstGeom prst="roundRect">
            <a:avLst/>
          </a:prstGeom>
          <a:solidFill>
            <a:srgbClr val="E6EBDE"/>
          </a:solidFill>
          <a:ln>
            <a:solidFill>
              <a:srgbClr val="D4D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721608" y="1874519"/>
            <a:ext cx="502920" cy="50292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/>
            </a:pPr>
            <a:r>
              <a:t>🏷️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7" y="2468880"/>
            <a:ext cx="2148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C1815"/>
                </a:solidFill>
                <a:latin typeface="Georgia"/>
              </a:defRPr>
            </a:pPr>
            <a:r>
              <a:t>Products Domain</a:t>
            </a:r>
          </a:p>
          <a:p>
            <a:pPr>
              <a:spcBef>
                <a:spcPts val="200"/>
              </a:spcBef>
              <a:defRPr sz="950" b="1">
                <a:solidFill>
                  <a:srgbClr val="C24B2D"/>
                </a:solidFill>
                <a:latin typeface="Calibri"/>
              </a:defRPr>
            </a:pPr>
            <a:r>
              <a:t>/api/products</a:t>
            </a:r>
          </a:p>
          <a:p>
            <a:pPr>
              <a:spcBef>
                <a:spcPts val="600"/>
              </a:spcBef>
              <a:defRPr sz="900">
                <a:solidFill>
                  <a:srgbClr val="1C1815"/>
                </a:solidFill>
                <a:latin typeface="Calibri"/>
              </a:defRPr>
            </a:pPr>
            <a:r>
              <a:t>• GET / · /featured · /search</a:t>
            </a:r>
          </a:p>
          <a:p>
            <a:pPr>
              <a:spcBef>
                <a:spcPts val="600"/>
              </a:spcBef>
              <a:defRPr sz="900">
                <a:solidFill>
                  <a:srgbClr val="1C1815"/>
                </a:solidFill>
                <a:latin typeface="Calibri"/>
              </a:defRPr>
            </a:pPr>
            <a:r>
              <a:t>• GET /category/:category</a:t>
            </a:r>
          </a:p>
          <a:p>
            <a:pPr>
              <a:spcBef>
                <a:spcPts val="600"/>
              </a:spcBef>
              <a:defRPr sz="900">
                <a:solidFill>
                  <a:srgbClr val="1C1815"/>
                </a:solidFill>
                <a:latin typeface="Calibri"/>
              </a:defRPr>
            </a:pPr>
            <a:r>
              <a:t>• GET /slug/:slug · /:productId</a:t>
            </a:r>
          </a:p>
          <a:p>
            <a:pPr>
              <a:spcBef>
                <a:spcPts val="600"/>
              </a:spcBef>
              <a:defRPr sz="900">
                <a:solidFill>
                  <a:srgbClr val="1C1815"/>
                </a:solidFill>
                <a:latin typeface="Calibri"/>
              </a:defRPr>
            </a:pPr>
            <a:r>
              <a:t>• POST / (Cloudinary image upload)</a:t>
            </a:r>
          </a:p>
          <a:p>
            <a:pPr>
              <a:spcBef>
                <a:spcPts val="600"/>
              </a:spcBef>
              <a:defRPr sz="900">
                <a:solidFill>
                  <a:srgbClr val="1C1815"/>
                </a:solidFill>
                <a:latin typeface="Calibri"/>
              </a:defRPr>
            </a:pPr>
            <a:r>
              <a:t>• PATCH /:id · DELETE /:id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1645920"/>
            <a:ext cx="2514600" cy="4297680"/>
          </a:xfrm>
          <a:prstGeom prst="roundRect">
            <a:avLst/>
          </a:prstGeom>
          <a:solidFill>
            <a:srgbClr val="E6EBDE"/>
          </a:solidFill>
          <a:ln>
            <a:solidFill>
              <a:srgbClr val="D4D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391656" y="1874519"/>
            <a:ext cx="502920" cy="50292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/>
            </a:pPr>
            <a:r>
              <a:t>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5936" y="2468880"/>
            <a:ext cx="2148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C1815"/>
                </a:solidFill>
                <a:latin typeface="Georgia"/>
              </a:defRPr>
            </a:pPr>
            <a:r>
              <a:t>Orders Domain</a:t>
            </a:r>
          </a:p>
          <a:p>
            <a:pPr>
              <a:spcBef>
                <a:spcPts val="200"/>
              </a:spcBef>
              <a:defRPr sz="950" b="1">
                <a:solidFill>
                  <a:srgbClr val="C24B2D"/>
                </a:solidFill>
                <a:latin typeface="Calibri"/>
              </a:defRPr>
            </a:pPr>
            <a:r>
              <a:t>/api/orders</a:t>
            </a:r>
          </a:p>
          <a:p>
            <a:pPr>
              <a:spcBef>
                <a:spcPts val="600"/>
              </a:spcBef>
              <a:defRPr sz="900">
                <a:solidFill>
                  <a:srgbClr val="1C1815"/>
                </a:solidFill>
                <a:latin typeface="Calibri"/>
              </a:defRPr>
            </a:pPr>
            <a:r>
              <a:t>• POST /create-payment-intent (Stripe)</a:t>
            </a:r>
          </a:p>
          <a:p>
            <a:pPr>
              <a:spcBef>
                <a:spcPts val="600"/>
              </a:spcBef>
              <a:defRPr sz="900">
                <a:solidFill>
                  <a:srgbClr val="1C1815"/>
                </a:solidFill>
                <a:latin typeface="Calibri"/>
              </a:defRPr>
            </a:pPr>
            <a:r>
              <a:t>• POST /webhook (Stripe confirmation)</a:t>
            </a:r>
          </a:p>
          <a:p>
            <a:pPr>
              <a:spcBef>
                <a:spcPts val="600"/>
              </a:spcBef>
              <a:defRPr sz="900">
                <a:solidFill>
                  <a:srgbClr val="1C1815"/>
                </a:solidFill>
                <a:latin typeface="Calibri"/>
              </a:defRPr>
            </a:pPr>
            <a:r>
              <a:t>• GET / (Buyer order history)</a:t>
            </a:r>
          </a:p>
          <a:p>
            <a:pPr>
              <a:spcBef>
                <a:spcPts val="600"/>
              </a:spcBef>
              <a:defRPr sz="900">
                <a:solidFill>
                  <a:srgbClr val="1C1815"/>
                </a:solidFill>
                <a:latin typeface="Calibri"/>
              </a:defRPr>
            </a:pPr>
            <a:r>
              <a:t>• GET /vendor (Isolated seller items)</a:t>
            </a:r>
          </a:p>
          <a:p>
            <a:pPr>
              <a:spcBef>
                <a:spcPts val="600"/>
              </a:spcBef>
              <a:defRPr sz="900">
                <a:solidFill>
                  <a:srgbClr val="1C1815"/>
                </a:solidFill>
                <a:latin typeface="Calibri"/>
              </a:defRPr>
            </a:pPr>
            <a:r>
              <a:t>• PATCH /:id/item-status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33104" y="1645920"/>
            <a:ext cx="2514600" cy="4297680"/>
          </a:xfrm>
          <a:prstGeom prst="roundRect">
            <a:avLst/>
          </a:prstGeom>
          <a:solidFill>
            <a:srgbClr val="E6EBDE"/>
          </a:solidFill>
          <a:ln>
            <a:solidFill>
              <a:srgbClr val="D4D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061704" y="1874519"/>
            <a:ext cx="502920" cy="50292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/>
            </a:pPr>
            <a:r>
              <a:t>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5984" y="2468880"/>
            <a:ext cx="2148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C1815"/>
                </a:solidFill>
                <a:latin typeface="Georgia"/>
              </a:defRPr>
            </a:pPr>
            <a:r>
              <a:t>Reviews Domain</a:t>
            </a:r>
          </a:p>
          <a:p>
            <a:pPr>
              <a:spcBef>
                <a:spcPts val="200"/>
              </a:spcBef>
              <a:defRPr sz="950" b="1">
                <a:solidFill>
                  <a:srgbClr val="C24B2D"/>
                </a:solidFill>
                <a:latin typeface="Calibri"/>
              </a:defRPr>
            </a:pPr>
            <a:r>
              <a:t>/api/reviews</a:t>
            </a:r>
          </a:p>
          <a:p>
            <a:pPr>
              <a:spcBef>
                <a:spcPts val="600"/>
              </a:spcBef>
              <a:defRPr sz="900">
                <a:solidFill>
                  <a:srgbClr val="1C1815"/>
                </a:solidFill>
                <a:latin typeface="Calibri"/>
              </a:defRPr>
            </a:pPr>
            <a:r>
              <a:t>• POST / (Verified delivery only)</a:t>
            </a:r>
          </a:p>
          <a:p>
            <a:pPr>
              <a:spcBef>
                <a:spcPts val="600"/>
              </a:spcBef>
              <a:defRPr sz="900">
                <a:solidFill>
                  <a:srgbClr val="1C1815"/>
                </a:solidFill>
                <a:latin typeface="Calibri"/>
              </a:defRPr>
            </a:pPr>
            <a:r>
              <a:t>• GET /product/:productId</a:t>
            </a:r>
          </a:p>
          <a:p>
            <a:pPr>
              <a:spcBef>
                <a:spcPts val="600"/>
              </a:spcBef>
              <a:defRPr sz="900">
                <a:solidFill>
                  <a:srgbClr val="1C1815"/>
                </a:solidFill>
                <a:latin typeface="Calibri"/>
              </a:defRPr>
            </a:pPr>
            <a:r>
              <a:t>• Recalculates average star ratings</a:t>
            </a:r>
          </a:p>
          <a:p>
            <a:pPr>
              <a:spcBef>
                <a:spcPts val="600"/>
              </a:spcBef>
              <a:defRPr sz="900">
                <a:solidFill>
                  <a:srgbClr val="1C1815"/>
                </a:solidFill>
                <a:latin typeface="Calibri"/>
              </a:defRPr>
            </a:pPr>
            <a:r>
              <a:t>• Stores 1-5 rating + written note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>
            <a:solidFill>
              <a:srgbClr val="F8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24B2D"/>
          </a:solidFill>
          <a:ln>
            <a:solidFill>
              <a:srgbClr val="C24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0" y="62179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E645C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179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E645C"/>
                </a:solidFill>
                <a:latin typeface="Calibri"/>
              </a:defRPr>
            </a:pPr>
            <a:r>
              <a:t>ARTISAN'S CORNER · https://artisan-corner-ten.vercel.app/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C24B2D"/>
                </a:solidFill>
                <a:latin typeface="Calibri"/>
              </a:defRPr>
            </a:pPr>
            <a:r>
              <a:t>F R O N T E N D   R O U T I N 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0467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C1815"/>
                </a:solidFill>
                <a:latin typeface="Georgia"/>
              </a:defRPr>
            </a:pPr>
            <a:r>
              <a:t>Nine production views spanning three distinct user experiences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27632"/>
            <a:ext cx="10545775" cy="438912"/>
          </a:xfrm>
          <a:prstGeom prst="roundRect">
            <a:avLst/>
          </a:prstGeom>
          <a:solidFill>
            <a:srgbClr val="F2F0EB"/>
          </a:solidFill>
          <a:ln>
            <a:solidFill>
              <a:srgbClr val="E6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664208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C1815"/>
                </a:solidFill>
                <a:latin typeface="Consolas"/>
              </a:defRPr>
            </a:pPr>
            <a:r>
              <a:t>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664208"/>
            <a:ext cx="6217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45C"/>
                </a:solidFill>
                <a:latin typeface="Calibri"/>
              </a:defRPr>
            </a:pPr>
            <a:r>
              <a:t>Home — hero carousel, featured craft spotlights, and category grid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75520" y="1691640"/>
            <a:ext cx="1280160" cy="292608"/>
          </a:xfrm>
          <a:prstGeom prst="roundRect">
            <a:avLst/>
          </a:prstGeom>
          <a:solidFill>
            <a:srgbClr val="C24B2D"/>
          </a:solidFill>
          <a:ln>
            <a:solidFill>
              <a:srgbClr val="C24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Buyer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121408"/>
            <a:ext cx="10545775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E6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2157984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C1815"/>
                </a:solidFill>
                <a:latin typeface="Consolas"/>
              </a:defRPr>
            </a:pPr>
            <a:r>
              <a:t>/products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157984"/>
            <a:ext cx="6217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45C"/>
                </a:solidFill>
                <a:latin typeface="Calibri"/>
              </a:defRPr>
            </a:pPr>
            <a:r>
              <a:t>Catalog with faceted search, price sliders, and category taxonomy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75520" y="2185416"/>
            <a:ext cx="1280160" cy="292608"/>
          </a:xfrm>
          <a:prstGeom prst="roundRect">
            <a:avLst/>
          </a:prstGeom>
          <a:solidFill>
            <a:srgbClr val="C24B2D"/>
          </a:solidFill>
          <a:ln>
            <a:solidFill>
              <a:srgbClr val="C24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Buyer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2615184"/>
            <a:ext cx="10545775" cy="438912"/>
          </a:xfrm>
          <a:prstGeom prst="roundRect">
            <a:avLst/>
          </a:prstGeom>
          <a:solidFill>
            <a:srgbClr val="F2F0EB"/>
          </a:solidFill>
          <a:ln>
            <a:solidFill>
              <a:srgbClr val="E6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265176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C1815"/>
                </a:solidFill>
                <a:latin typeface="Consolas"/>
              </a:defRPr>
            </a:pPr>
            <a:r>
              <a:t>/products/:slug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651760"/>
            <a:ext cx="6217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45C"/>
                </a:solidFill>
                <a:latin typeface="Calibri"/>
              </a:defRPr>
            </a:pPr>
            <a:r>
              <a:t>Multi-image Cloudinary gallery, maker bio, and verified reviews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75520" y="2679192"/>
            <a:ext cx="1280160" cy="292608"/>
          </a:xfrm>
          <a:prstGeom prst="roundRect">
            <a:avLst/>
          </a:prstGeom>
          <a:solidFill>
            <a:srgbClr val="C24B2D"/>
          </a:solidFill>
          <a:ln>
            <a:solidFill>
              <a:srgbClr val="C24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Buyer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108960"/>
            <a:ext cx="10545775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E6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3145536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C1815"/>
                </a:solidFill>
                <a:latin typeface="Consolas"/>
              </a:defRPr>
            </a:pPr>
            <a:r>
              <a:t>/cart &amp; /wishlist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3145536"/>
            <a:ext cx="6217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45C"/>
                </a:solidFill>
                <a:latin typeface="Calibri"/>
              </a:defRPr>
            </a:pPr>
            <a:r>
              <a:t>Persistent multi-vendor cart with live subtotals &amp; cloud bookmarks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75520" y="3172968"/>
            <a:ext cx="1280160" cy="292608"/>
          </a:xfrm>
          <a:prstGeom prst="roundRect">
            <a:avLst/>
          </a:prstGeom>
          <a:solidFill>
            <a:srgbClr val="C24B2D"/>
          </a:solidFill>
          <a:ln>
            <a:solidFill>
              <a:srgbClr val="C24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Buyer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3602736"/>
            <a:ext cx="10545775" cy="438912"/>
          </a:xfrm>
          <a:prstGeom prst="roundRect">
            <a:avLst/>
          </a:prstGeom>
          <a:solidFill>
            <a:srgbClr val="F2F0EB"/>
          </a:solidFill>
          <a:ln>
            <a:solidFill>
              <a:srgbClr val="E6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5840" y="3639312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C1815"/>
                </a:solidFill>
                <a:latin typeface="Consolas"/>
              </a:defRPr>
            </a:pPr>
            <a:r>
              <a:t>/orders , /orders/:id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3639312"/>
            <a:ext cx="6217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45C"/>
                </a:solidFill>
                <a:latin typeface="Calibri"/>
              </a:defRPr>
            </a:pPr>
            <a:r>
              <a:t>Itemized parcel tracking (Processing → Delivered) with review modal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75520" y="3666744"/>
            <a:ext cx="1280160" cy="292608"/>
          </a:xfrm>
          <a:prstGeom prst="roundRect">
            <a:avLst/>
          </a:prstGeom>
          <a:solidFill>
            <a:srgbClr val="C24B2D"/>
          </a:solidFill>
          <a:ln>
            <a:solidFill>
              <a:srgbClr val="C24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Buyer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4096512"/>
            <a:ext cx="10545775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E6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05840" y="4133088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C1815"/>
                </a:solidFill>
                <a:latin typeface="Consolas"/>
              </a:defRPr>
            </a:pPr>
            <a:r>
              <a:t>/become-vendor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4133088"/>
            <a:ext cx="6217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45C"/>
                </a:solidFill>
                <a:latin typeface="Calibri"/>
              </a:defRPr>
            </a:pPr>
            <a:r>
              <a:t>Artisan application form submitting bio, phone, address to admin queue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75520" y="4160520"/>
            <a:ext cx="1280160" cy="292608"/>
          </a:xfrm>
          <a:prstGeom prst="roundRect">
            <a:avLst/>
          </a:prstGeom>
          <a:solidFill>
            <a:srgbClr val="386E64"/>
          </a:solidFill>
          <a:ln>
            <a:solidFill>
              <a:srgbClr val="386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Onboarding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4590288"/>
            <a:ext cx="10545775" cy="438912"/>
          </a:xfrm>
          <a:prstGeom prst="roundRect">
            <a:avLst/>
          </a:prstGeom>
          <a:solidFill>
            <a:srgbClr val="F2F0EB"/>
          </a:solidFill>
          <a:ln>
            <a:solidFill>
              <a:srgbClr val="E6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05840" y="4626864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C1815"/>
                </a:solidFill>
                <a:latin typeface="Consolas"/>
              </a:defRPr>
            </a:pPr>
            <a:r>
              <a:t>/shop/:id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0" y="4626864"/>
            <a:ext cx="6217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45C"/>
                </a:solidFill>
                <a:latin typeface="Calibri"/>
              </a:defRPr>
            </a:pPr>
            <a:r>
              <a:t>Dedicated public artisan storefront showcasing maker story &amp; creations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875520" y="4654296"/>
            <a:ext cx="1280160" cy="292608"/>
          </a:xfrm>
          <a:prstGeom prst="roundRect">
            <a:avLst/>
          </a:prstGeom>
          <a:solidFill>
            <a:srgbClr val="8C5A2D"/>
          </a:solidFill>
          <a:ln>
            <a:solidFill>
              <a:srgbClr val="8C5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Public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" y="5084064"/>
            <a:ext cx="10545775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E6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05840" y="512064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C1815"/>
                </a:solidFill>
                <a:latin typeface="Consolas"/>
              </a:defRPr>
            </a:pPr>
            <a:r>
              <a:t>/seller/*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4720" y="5120640"/>
            <a:ext cx="6217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45C"/>
                </a:solidFill>
                <a:latin typeface="Calibri"/>
              </a:defRPr>
            </a:pPr>
            <a:r>
              <a:t>Vendor suite: product CRUD, inventory, order fulfillment, Recharts sales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875520" y="5148072"/>
            <a:ext cx="1280160" cy="292608"/>
          </a:xfrm>
          <a:prstGeom prst="roundRect">
            <a:avLst/>
          </a:prstGeom>
          <a:solidFill>
            <a:srgbClr val="B4642D"/>
          </a:solidFill>
          <a:ln>
            <a:solidFill>
              <a:srgbClr val="B464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Vendor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60" y="5577840"/>
            <a:ext cx="10545775" cy="438912"/>
          </a:xfrm>
          <a:prstGeom prst="roundRect">
            <a:avLst/>
          </a:prstGeom>
          <a:solidFill>
            <a:srgbClr val="F2F0EB"/>
          </a:solidFill>
          <a:ln>
            <a:solidFill>
              <a:srgbClr val="E6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05840" y="5614416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C1815"/>
                </a:solidFill>
                <a:latin typeface="Consolas"/>
              </a:defRPr>
            </a:pPr>
            <a:r>
              <a:t>/admin/*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74720" y="5614416"/>
            <a:ext cx="6217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45C"/>
                </a:solidFill>
                <a:latin typeface="Calibri"/>
              </a:defRPr>
            </a:pPr>
            <a:r>
              <a:t>Admin control: vendor verification queue, user directory, commission slider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875520" y="5641848"/>
            <a:ext cx="1280160" cy="292608"/>
          </a:xfrm>
          <a:prstGeom prst="roundRect">
            <a:avLst/>
          </a:prstGeom>
          <a:solidFill>
            <a:srgbClr val="321E19"/>
          </a:solidFill>
          <a:ln>
            <a:solidFill>
              <a:srgbClr val="321E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Admin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01E18"/>
          </a:solidFill>
          <a:ln>
            <a:solidFill>
              <a:srgbClr val="301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522D23"/>
          </a:solidFill>
          <a:ln>
            <a:solidFill>
              <a:srgbClr val="52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058400" y="3657600"/>
            <a:ext cx="4114800" cy="4114800"/>
          </a:xfrm>
          <a:prstGeom prst="ellipse">
            <a:avLst/>
          </a:prstGeom>
          <a:solidFill>
            <a:srgbClr val="404C3E"/>
          </a:solidFill>
          <a:ln>
            <a:solidFill>
              <a:srgbClr val="404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2179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DC3B9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C24B2D"/>
                </a:solidFill>
                <a:latin typeface="Calibri"/>
              </a:defRPr>
            </a:pPr>
            <a:r>
              <a:t>S E C U R I T Y   &amp;   R E L I A B I L I T 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0467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Georgia"/>
              </a:defRPr>
            </a:pPr>
            <a:r>
              <a:t>Hardened by default across all layers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45920"/>
            <a:ext cx="3383280" cy="2011680"/>
          </a:xfrm>
          <a:prstGeom prst="roundRect">
            <a:avLst/>
          </a:prstGeom>
          <a:solidFill>
            <a:srgbClr val="402820"/>
          </a:solidFill>
          <a:ln>
            <a:solidFill>
              <a:srgbClr val="5032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51560" y="1874519"/>
            <a:ext cx="502920" cy="502920"/>
          </a:xfrm>
          <a:prstGeom prst="ellipse">
            <a:avLst/>
          </a:prstGeom>
          <a:solidFill>
            <a:srgbClr val="C24B2D"/>
          </a:solidFill>
          <a:ln>
            <a:solidFill>
              <a:srgbClr val="C24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468880"/>
            <a:ext cx="2926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FFFFF"/>
                </a:solidFill>
                <a:latin typeface="Georgia"/>
              </a:defRPr>
            </a:pPr>
            <a:r>
              <a:t>HttpOnly JWT Cookies</a:t>
            </a:r>
          </a:p>
          <a:p>
            <a:pPr>
              <a:spcBef>
                <a:spcPts val="400"/>
              </a:spcBef>
              <a:defRPr sz="950">
                <a:solidFill>
                  <a:srgbClr val="CDC3B9"/>
                </a:solidFill>
                <a:latin typeface="Calibri"/>
              </a:defRPr>
            </a:pPr>
            <a:r>
              <a:t>Access tokens stored in secure, SameSite cookies — completely immune to JavaScript XSS theft.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45920"/>
            <a:ext cx="3383280" cy="2011680"/>
          </a:xfrm>
          <a:prstGeom prst="roundRect">
            <a:avLst/>
          </a:prstGeom>
          <a:solidFill>
            <a:srgbClr val="402820"/>
          </a:solidFill>
          <a:ln>
            <a:solidFill>
              <a:srgbClr val="5032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617720" y="1874519"/>
            <a:ext cx="502920" cy="502920"/>
          </a:xfrm>
          <a:prstGeom prst="ellipse">
            <a:avLst/>
          </a:prstGeom>
          <a:solidFill>
            <a:srgbClr val="C24B2D"/>
          </a:solidFill>
          <a:ln>
            <a:solidFill>
              <a:srgbClr val="C24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🛡️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468880"/>
            <a:ext cx="2926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FFFFF"/>
                </a:solidFill>
                <a:latin typeface="Georgia"/>
              </a:defRPr>
            </a:pPr>
            <a:r>
              <a:t>Bcrypt Password Hashing</a:t>
            </a:r>
          </a:p>
          <a:p>
            <a:pPr>
              <a:spcBef>
                <a:spcPts val="400"/>
              </a:spcBef>
              <a:defRPr sz="950">
                <a:solidFill>
                  <a:srgbClr val="CDC3B9"/>
                </a:solidFill>
                <a:latin typeface="Calibri"/>
              </a:defRPr>
            </a:pPr>
            <a:r>
              <a:t>Salted password encryption ensures buyer and artisan credentials are never exposed.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645920"/>
            <a:ext cx="3383280" cy="2011680"/>
          </a:xfrm>
          <a:prstGeom prst="roundRect">
            <a:avLst/>
          </a:prstGeom>
          <a:solidFill>
            <a:srgbClr val="402820"/>
          </a:solidFill>
          <a:ln>
            <a:solidFill>
              <a:srgbClr val="5032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183879" y="1874519"/>
            <a:ext cx="502920" cy="502920"/>
          </a:xfrm>
          <a:prstGeom prst="ellipse">
            <a:avLst/>
          </a:prstGeom>
          <a:solidFill>
            <a:srgbClr val="C24B2D"/>
          </a:solidFill>
          <a:ln>
            <a:solidFill>
              <a:srgbClr val="C24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2468880"/>
            <a:ext cx="2926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FFFFF"/>
                </a:solidFill>
                <a:latin typeface="Georgia"/>
              </a:defRPr>
            </a:pPr>
            <a:r>
              <a:t>Zod &amp; Schema Validation</a:t>
            </a:r>
          </a:p>
          <a:p>
            <a:pPr>
              <a:spcBef>
                <a:spcPts val="400"/>
              </a:spcBef>
              <a:defRPr sz="950">
                <a:solidFill>
                  <a:srgbClr val="CDC3B9"/>
                </a:solidFill>
                <a:latin typeface="Calibri"/>
              </a:defRPr>
            </a:pPr>
            <a:r>
              <a:t>Every API request body strictly sanitized and validated against schemas before execution.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886200"/>
            <a:ext cx="3383280" cy="2011680"/>
          </a:xfrm>
          <a:prstGeom prst="roundRect">
            <a:avLst/>
          </a:prstGeom>
          <a:solidFill>
            <a:srgbClr val="402820"/>
          </a:solidFill>
          <a:ln>
            <a:solidFill>
              <a:srgbClr val="5032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51560" y="4114800"/>
            <a:ext cx="502920" cy="502920"/>
          </a:xfrm>
          <a:prstGeom prst="ellipse">
            <a:avLst/>
          </a:prstGeom>
          <a:solidFill>
            <a:srgbClr val="C24B2D"/>
          </a:solidFill>
          <a:ln>
            <a:solidFill>
              <a:srgbClr val="C24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🗄️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709160"/>
            <a:ext cx="2926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FFFFF"/>
                </a:solidFill>
                <a:latin typeface="Georgia"/>
              </a:defRPr>
            </a:pPr>
            <a:r>
              <a:t>Mongo Sanitization</a:t>
            </a:r>
          </a:p>
          <a:p>
            <a:pPr>
              <a:spcBef>
                <a:spcPts val="400"/>
              </a:spcBef>
              <a:defRPr sz="950">
                <a:solidFill>
                  <a:srgbClr val="CDC3B9"/>
                </a:solidFill>
                <a:latin typeface="Calibri"/>
              </a:defRPr>
            </a:pPr>
            <a:r>
              <a:t>express-mongo-sanitize filters operators to block NoSQL injection vectors.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3886200"/>
            <a:ext cx="3383280" cy="2011680"/>
          </a:xfrm>
          <a:prstGeom prst="roundRect">
            <a:avLst/>
          </a:prstGeom>
          <a:solidFill>
            <a:srgbClr val="402820"/>
          </a:solidFill>
          <a:ln>
            <a:solidFill>
              <a:srgbClr val="5032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617720" y="4114800"/>
            <a:ext cx="502920" cy="502920"/>
          </a:xfrm>
          <a:prstGeom prst="ellipse">
            <a:avLst/>
          </a:prstGeom>
          <a:solidFill>
            <a:srgbClr val="C24B2D"/>
          </a:solidFill>
          <a:ln>
            <a:solidFill>
              <a:srgbClr val="C24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4709160"/>
            <a:ext cx="2926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FFFFF"/>
                </a:solidFill>
                <a:latin typeface="Georgia"/>
              </a:defRPr>
            </a:pPr>
            <a:r>
              <a:t>Helmet Headers &amp; CORS</a:t>
            </a:r>
          </a:p>
          <a:p>
            <a:pPr>
              <a:spcBef>
                <a:spcPts val="400"/>
              </a:spcBef>
              <a:defRPr sz="950">
                <a:solidFill>
                  <a:srgbClr val="CDC3B9"/>
                </a:solidFill>
                <a:latin typeface="Calibri"/>
              </a:defRPr>
            </a:pPr>
            <a:r>
              <a:t>Security headers and locked-down origin policy preventing clickjacking &amp; cross-origin forgery.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55279" y="3886200"/>
            <a:ext cx="3383280" cy="2011680"/>
          </a:xfrm>
          <a:prstGeom prst="roundRect">
            <a:avLst/>
          </a:prstGeom>
          <a:solidFill>
            <a:srgbClr val="402820"/>
          </a:solidFill>
          <a:ln>
            <a:solidFill>
              <a:srgbClr val="5032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183879" y="4114800"/>
            <a:ext cx="502920" cy="502920"/>
          </a:xfrm>
          <a:prstGeom prst="ellipse">
            <a:avLst/>
          </a:prstGeom>
          <a:solidFill>
            <a:srgbClr val="C24B2D"/>
          </a:solidFill>
          <a:ln>
            <a:solidFill>
              <a:srgbClr val="C24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⚙️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79" y="4709160"/>
            <a:ext cx="2926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FFFFF"/>
                </a:solidFill>
                <a:latin typeface="Georgia"/>
              </a:defRPr>
            </a:pPr>
            <a:r>
              <a:t>Express Rate Limiting</a:t>
            </a:r>
          </a:p>
          <a:p>
            <a:pPr>
              <a:spcBef>
                <a:spcPts val="400"/>
              </a:spcBef>
              <a:defRPr sz="950">
                <a:solidFill>
                  <a:srgbClr val="CDC3B9"/>
                </a:solidFill>
                <a:latin typeface="Calibri"/>
              </a:defRPr>
            </a:pPr>
            <a:r>
              <a:t>Throttles abusive bursts on authentication, search, and checkout endpoints.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01E18"/>
          </a:solidFill>
          <a:ln>
            <a:solidFill>
              <a:srgbClr val="301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522D23"/>
          </a:solidFill>
          <a:ln>
            <a:solidFill>
              <a:srgbClr val="52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058400" y="3657600"/>
            <a:ext cx="4114800" cy="4114800"/>
          </a:xfrm>
          <a:prstGeom prst="ellipse">
            <a:avLst/>
          </a:prstGeom>
          <a:solidFill>
            <a:srgbClr val="404C3E"/>
          </a:solidFill>
          <a:ln>
            <a:solidFill>
              <a:srgbClr val="404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r>
              <a:t>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Georgia"/>
              </a:defRPr>
            </a:pPr>
            <a:r>
              <a:t>Ready to explore the marketplace</a:t>
            </a:r>
          </a:p>
          <a:p>
            <a:pPr>
              <a:spcBef>
                <a:spcPts val="600"/>
              </a:spcBef>
              <a:defRPr sz="1200">
                <a:solidFill>
                  <a:srgbClr val="CDC3B9"/>
                </a:solidFill>
                <a:latin typeface="Calibri"/>
              </a:defRPr>
            </a:pPr>
            <a:r>
              <a:t>Use the built-in 1-Click Role Switcher or test credentials below to explore all surfaces live: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834640"/>
            <a:ext cx="3383280" cy="2361694"/>
          </a:xfrm>
          <a:prstGeom prst="roundRect">
            <a:avLst/>
          </a:prstGeom>
          <a:solidFill>
            <a:srgbClr val="402820"/>
          </a:solidFill>
          <a:ln w="15240">
            <a:solidFill>
              <a:srgbClr val="C24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971800"/>
            <a:ext cx="2371162" cy="19492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Georgia"/>
              </a:defRPr>
            </a:pPr>
            <a:r>
              <a:rPr dirty="0"/>
              <a:t>Buyer Role</a:t>
            </a:r>
          </a:p>
          <a:p>
            <a:pPr>
              <a:spcBef>
                <a:spcPts val="600"/>
              </a:spcBef>
              <a:defRPr sz="1000">
                <a:solidFill>
                  <a:srgbClr val="E6DCD2"/>
                </a:solidFill>
                <a:latin typeface="Consolas"/>
              </a:defRPr>
            </a:pPr>
            <a:r>
              <a:rPr dirty="0"/>
              <a:t>Email: </a:t>
            </a:r>
            <a:r>
              <a:rPr lang="en-US" dirty="0"/>
              <a:t>arun</a:t>
            </a:r>
            <a:r>
              <a:rPr dirty="0"/>
              <a:t>@artisanscorner.com</a:t>
            </a:r>
          </a:p>
          <a:p>
            <a:pPr>
              <a:spcBef>
                <a:spcPts val="200"/>
              </a:spcBef>
              <a:defRPr sz="1000">
                <a:solidFill>
                  <a:srgbClr val="C8BEB4"/>
                </a:solidFill>
                <a:latin typeface="Consolas"/>
              </a:defRPr>
            </a:pPr>
            <a:r>
              <a:rPr dirty="0"/>
              <a:t>Pass:  </a:t>
            </a:r>
            <a:r>
              <a:rPr lang="en-US" dirty="0"/>
              <a:t>Arun$#@123</a:t>
            </a:r>
          </a:p>
          <a:p>
            <a:pPr>
              <a:spcBef>
                <a:spcPts val="600"/>
              </a:spcBef>
              <a:defRPr sz="1000">
                <a:solidFill>
                  <a:srgbClr val="E6DCD2"/>
                </a:solidFill>
                <a:latin typeface="Consolas"/>
              </a:defRPr>
            </a:pPr>
            <a:r>
              <a:rPr lang="fr-FR" dirty="0"/>
              <a:t>Email: anmol@artisanscorner.com</a:t>
            </a:r>
          </a:p>
          <a:p>
            <a:pPr>
              <a:spcBef>
                <a:spcPts val="200"/>
              </a:spcBef>
              <a:defRPr sz="1000">
                <a:solidFill>
                  <a:srgbClr val="C8BEB4"/>
                </a:solidFill>
                <a:latin typeface="Consolas"/>
              </a:defRPr>
            </a:pPr>
            <a:r>
              <a:rPr lang="fr-FR" dirty="0" err="1"/>
              <a:t>Pass</a:t>
            </a:r>
            <a:r>
              <a:rPr lang="fr-FR" dirty="0"/>
              <a:t>:  Anmol$#@123</a:t>
            </a:r>
          </a:p>
          <a:p>
            <a:pPr>
              <a:spcBef>
                <a:spcPts val="600"/>
              </a:spcBef>
              <a:defRPr sz="1000">
                <a:solidFill>
                  <a:srgbClr val="E6DCD2"/>
                </a:solidFill>
                <a:latin typeface="Consolas"/>
              </a:defRPr>
            </a:pPr>
            <a:r>
              <a:rPr lang="fr-FR" dirty="0"/>
              <a:t>Email: vimal@artisanscorner.com</a:t>
            </a:r>
          </a:p>
          <a:p>
            <a:pPr>
              <a:spcBef>
                <a:spcPts val="200"/>
              </a:spcBef>
              <a:defRPr sz="1000">
                <a:solidFill>
                  <a:srgbClr val="C8BEB4"/>
                </a:solidFill>
                <a:latin typeface="Consolas"/>
              </a:defRPr>
            </a:pPr>
            <a:r>
              <a:rPr lang="fr-FR" dirty="0" err="1"/>
              <a:t>Pass</a:t>
            </a:r>
            <a:r>
              <a:rPr lang="fr-FR" dirty="0"/>
              <a:t>:  Vimal$#@123</a:t>
            </a:r>
          </a:p>
          <a:p>
            <a:pPr>
              <a:spcBef>
                <a:spcPts val="200"/>
              </a:spcBef>
              <a:defRPr sz="1000">
                <a:solidFill>
                  <a:srgbClr val="C8BEB4"/>
                </a:solidFill>
                <a:latin typeface="Consolas"/>
              </a:defRPr>
            </a:pPr>
            <a:endParaRPr lang="en-US" dirty="0"/>
          </a:p>
          <a:p>
            <a:pPr>
              <a:spcBef>
                <a:spcPts val="600"/>
              </a:spcBef>
              <a:defRPr sz="900">
                <a:solidFill>
                  <a:srgbClr val="F5A582"/>
                </a:solidFill>
                <a:latin typeface="Calibri"/>
              </a:defRPr>
            </a:pPr>
            <a:r>
              <a:rPr lang="en-US" dirty="0"/>
              <a:t>Browse, cart, checkout via Stripe, review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834640"/>
            <a:ext cx="3383280" cy="2361694"/>
          </a:xfrm>
          <a:prstGeom prst="roundRect">
            <a:avLst/>
          </a:prstGeom>
          <a:solidFill>
            <a:srgbClr val="402820"/>
          </a:solidFill>
          <a:ln w="15240">
            <a:solidFill>
              <a:srgbClr val="C24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2971800"/>
            <a:ext cx="2872902" cy="19492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Georgia"/>
              </a:defRPr>
            </a:pPr>
            <a:r>
              <a:rPr dirty="0"/>
              <a:t>Vendor Role (Terra &amp; Kiln)</a:t>
            </a:r>
          </a:p>
          <a:p>
            <a:pPr>
              <a:spcBef>
                <a:spcPts val="600"/>
              </a:spcBef>
              <a:defRPr sz="1000">
                <a:solidFill>
                  <a:srgbClr val="E6DCD2"/>
                </a:solidFill>
                <a:latin typeface="Consolas"/>
              </a:defRPr>
            </a:pPr>
            <a:r>
              <a:rPr dirty="0"/>
              <a:t>Email: </a:t>
            </a:r>
            <a:r>
              <a:rPr lang="en-US" dirty="0"/>
              <a:t>oliver</a:t>
            </a:r>
            <a:r>
              <a:rPr dirty="0"/>
              <a:t>@artisanscorner.com</a:t>
            </a:r>
          </a:p>
          <a:p>
            <a:pPr>
              <a:spcBef>
                <a:spcPts val="200"/>
              </a:spcBef>
              <a:defRPr sz="1000">
                <a:solidFill>
                  <a:srgbClr val="C8BEB4"/>
                </a:solidFill>
                <a:latin typeface="Consolas"/>
              </a:defRPr>
            </a:pPr>
            <a:r>
              <a:rPr dirty="0"/>
              <a:t>Pass:  </a:t>
            </a:r>
            <a:r>
              <a:rPr lang="en-US" dirty="0"/>
              <a:t>Oliver$#@123</a:t>
            </a:r>
          </a:p>
          <a:p>
            <a:pPr>
              <a:spcBef>
                <a:spcPts val="600"/>
              </a:spcBef>
              <a:defRPr sz="1000">
                <a:solidFill>
                  <a:srgbClr val="E6DCD2"/>
                </a:solidFill>
                <a:latin typeface="Consolas"/>
              </a:defRPr>
            </a:pPr>
            <a:r>
              <a:rPr lang="fr-FR" dirty="0"/>
              <a:t>Email: maya@artisanscorner.com</a:t>
            </a:r>
          </a:p>
          <a:p>
            <a:pPr>
              <a:spcBef>
                <a:spcPts val="200"/>
              </a:spcBef>
              <a:defRPr sz="1000">
                <a:solidFill>
                  <a:srgbClr val="C8BEB4"/>
                </a:solidFill>
                <a:latin typeface="Consolas"/>
              </a:defRPr>
            </a:pPr>
            <a:r>
              <a:rPr lang="fr-FR" dirty="0" err="1"/>
              <a:t>Pass</a:t>
            </a:r>
            <a:r>
              <a:rPr lang="fr-FR" dirty="0"/>
              <a:t>:  Maya$#@123</a:t>
            </a:r>
          </a:p>
          <a:p>
            <a:pPr>
              <a:spcBef>
                <a:spcPts val="600"/>
              </a:spcBef>
              <a:defRPr sz="1000">
                <a:solidFill>
                  <a:srgbClr val="E6DCD2"/>
                </a:solidFill>
                <a:latin typeface="Consolas"/>
              </a:defRPr>
            </a:pPr>
            <a:r>
              <a:rPr lang="fr-FR" dirty="0"/>
              <a:t>Email: vendor@artisanscorner.com</a:t>
            </a:r>
          </a:p>
          <a:p>
            <a:pPr>
              <a:spcBef>
                <a:spcPts val="200"/>
              </a:spcBef>
              <a:defRPr sz="1000">
                <a:solidFill>
                  <a:srgbClr val="C8BEB4"/>
                </a:solidFill>
                <a:latin typeface="Consolas"/>
              </a:defRPr>
            </a:pPr>
            <a:r>
              <a:rPr lang="fr-FR" dirty="0" err="1"/>
              <a:t>Pass</a:t>
            </a:r>
            <a:r>
              <a:rPr lang="fr-FR" dirty="0"/>
              <a:t>:  </a:t>
            </a:r>
            <a:r>
              <a:rPr lang="en-US" dirty="0"/>
              <a:t>Vikrant$#@123</a:t>
            </a:r>
            <a:endParaRPr lang="en-IN" dirty="0"/>
          </a:p>
          <a:p>
            <a:pPr>
              <a:spcBef>
                <a:spcPts val="200"/>
              </a:spcBef>
              <a:defRPr sz="1000">
                <a:solidFill>
                  <a:srgbClr val="C8BEB4"/>
                </a:solidFill>
                <a:latin typeface="Consolas"/>
              </a:defRPr>
            </a:pPr>
            <a:endParaRPr dirty="0"/>
          </a:p>
          <a:p>
            <a:pPr>
              <a:spcBef>
                <a:spcPts val="600"/>
              </a:spcBef>
              <a:defRPr sz="900">
                <a:solidFill>
                  <a:srgbClr val="F5A582"/>
                </a:solidFill>
                <a:latin typeface="Calibri"/>
              </a:defRPr>
            </a:pPr>
            <a:r>
              <a:rPr dirty="0"/>
              <a:t>Product CRUD, fulfillment, Recharts sales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2834640"/>
            <a:ext cx="3383280" cy="2361694"/>
          </a:xfrm>
          <a:prstGeom prst="roundRect">
            <a:avLst/>
          </a:prstGeom>
          <a:solidFill>
            <a:srgbClr val="402820"/>
          </a:solidFill>
          <a:ln w="15240">
            <a:solidFill>
              <a:srgbClr val="C24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38159" y="2971800"/>
            <a:ext cx="2371162" cy="18466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Georgia"/>
              </a:defRPr>
            </a:pPr>
            <a:r>
              <a:rPr dirty="0"/>
              <a:t>Guild Admin Role</a:t>
            </a:r>
          </a:p>
          <a:p>
            <a:pPr>
              <a:spcBef>
                <a:spcPts val="600"/>
              </a:spcBef>
              <a:defRPr sz="1000">
                <a:solidFill>
                  <a:srgbClr val="E6DCD2"/>
                </a:solidFill>
                <a:latin typeface="Consolas"/>
              </a:defRPr>
            </a:pPr>
            <a:r>
              <a:rPr dirty="0"/>
              <a:t>Email: admin@artisanscorner.com</a:t>
            </a:r>
          </a:p>
          <a:p>
            <a:pPr>
              <a:spcBef>
                <a:spcPts val="200"/>
              </a:spcBef>
              <a:defRPr sz="1000">
                <a:solidFill>
                  <a:srgbClr val="C8BEB4"/>
                </a:solidFill>
                <a:latin typeface="Consolas"/>
              </a:defRPr>
            </a:pPr>
            <a:r>
              <a:rPr dirty="0"/>
              <a:t>Pass:  </a:t>
            </a:r>
            <a:r>
              <a:rPr lang="en-US" dirty="0"/>
              <a:t>Mehul$#@123</a:t>
            </a:r>
          </a:p>
          <a:p>
            <a:pPr>
              <a:spcBef>
                <a:spcPts val="200"/>
              </a:spcBef>
              <a:defRPr sz="1000">
                <a:solidFill>
                  <a:srgbClr val="C8BEB4"/>
                </a:solidFill>
                <a:latin typeface="Consolas"/>
              </a:defRPr>
            </a:pPr>
            <a:endParaRPr lang="en-US" dirty="0"/>
          </a:p>
          <a:p>
            <a:pPr>
              <a:spcBef>
                <a:spcPts val="200"/>
              </a:spcBef>
              <a:defRPr sz="1000">
                <a:solidFill>
                  <a:srgbClr val="C8BEB4"/>
                </a:solidFill>
                <a:latin typeface="Consolas"/>
              </a:defRPr>
            </a:pPr>
            <a:endParaRPr lang="en-US" dirty="0"/>
          </a:p>
          <a:p>
            <a:pPr>
              <a:spcBef>
                <a:spcPts val="200"/>
              </a:spcBef>
              <a:defRPr sz="1000">
                <a:solidFill>
                  <a:srgbClr val="C8BEB4"/>
                </a:solidFill>
                <a:latin typeface="Consolas"/>
              </a:defRPr>
            </a:pPr>
            <a:endParaRPr lang="en-US" dirty="0"/>
          </a:p>
          <a:p>
            <a:pPr>
              <a:spcBef>
                <a:spcPts val="200"/>
              </a:spcBef>
              <a:defRPr sz="1000">
                <a:solidFill>
                  <a:srgbClr val="C8BEB4"/>
                </a:solidFill>
                <a:latin typeface="Consolas"/>
              </a:defRPr>
            </a:pPr>
            <a:endParaRPr lang="en-US" dirty="0"/>
          </a:p>
          <a:p>
            <a:pPr>
              <a:spcBef>
                <a:spcPts val="200"/>
              </a:spcBef>
              <a:defRPr sz="1000">
                <a:solidFill>
                  <a:srgbClr val="C8BEB4"/>
                </a:solidFill>
                <a:latin typeface="Consolas"/>
              </a:defRPr>
            </a:pPr>
            <a:endParaRPr dirty="0"/>
          </a:p>
          <a:p>
            <a:pPr>
              <a:spcBef>
                <a:spcPts val="600"/>
              </a:spcBef>
              <a:defRPr sz="900">
                <a:solidFill>
                  <a:srgbClr val="F5A582"/>
                </a:solidFill>
                <a:latin typeface="Calibri"/>
              </a:defRPr>
            </a:pPr>
            <a:r>
              <a:rPr dirty="0"/>
              <a:t>Vendor verification, 5% fee slider, GMV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478527"/>
            <a:ext cx="6072496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5A582"/>
                </a:solidFill>
                <a:latin typeface="Consolas"/>
              </a:defRPr>
            </a:pPr>
            <a:r>
              <a:rPr dirty="0"/>
              <a:t>🌐 Live URL: https://artisan-corner-ten.vercel.app/   ·   Local: </a:t>
            </a:r>
            <a:r>
              <a:rPr dirty="0" err="1"/>
              <a:t>npm</a:t>
            </a:r>
            <a:r>
              <a:rPr dirty="0"/>
              <a:t> run dev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7607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CDC3B9"/>
                </a:solidFill>
                <a:latin typeface="Georgia"/>
              </a:defRPr>
            </a:pPr>
            <a:r>
              <a:t>Thank you · Artisan's Corner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1689</Words>
  <Application>Microsoft Office PowerPoint</Application>
  <PresentationFormat>Widescreen</PresentationFormat>
  <Paragraphs>256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MEHUL CHAVDA</dc:creator>
  <cp:keywords/>
  <dc:description>generated using python-pptx</dc:description>
  <cp:lastModifiedBy>MEHUL CHAVDA</cp:lastModifiedBy>
  <cp:revision>2</cp:revision>
  <dcterms:created xsi:type="dcterms:W3CDTF">2013-01-27T09:14:16Z</dcterms:created>
  <dcterms:modified xsi:type="dcterms:W3CDTF">2026-08-26T11:51:58Z</dcterms:modified>
  <cp:category/>
</cp:coreProperties>
</file>